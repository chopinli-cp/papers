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sldIdLst>
    <p:sldId id="256" r:id="rId2"/>
    <p:sldId id="280" r:id="rId3"/>
    <p:sldId id="258" r:id="rId4"/>
    <p:sldId id="303" r:id="rId5"/>
    <p:sldId id="273" r:id="rId6"/>
    <p:sldId id="285" r:id="rId7"/>
    <p:sldId id="281" r:id="rId8"/>
    <p:sldId id="260" r:id="rId9"/>
    <p:sldId id="296" r:id="rId10"/>
    <p:sldId id="288" r:id="rId11"/>
    <p:sldId id="299" r:id="rId12"/>
    <p:sldId id="298" r:id="rId13"/>
    <p:sldId id="262" r:id="rId14"/>
    <p:sldId id="263" r:id="rId15"/>
    <p:sldId id="301" r:id="rId16"/>
    <p:sldId id="293" r:id="rId17"/>
    <p:sldId id="289" r:id="rId18"/>
    <p:sldId id="264" r:id="rId19"/>
    <p:sldId id="302" r:id="rId20"/>
    <p:sldId id="282" r:id="rId21"/>
    <p:sldId id="294" r:id="rId22"/>
    <p:sldId id="276" r:id="rId23"/>
    <p:sldId id="277" r:id="rId24"/>
    <p:sldId id="267" r:id="rId25"/>
    <p:sldId id="268" r:id="rId26"/>
    <p:sldId id="292" r:id="rId27"/>
    <p:sldId id="279" r:id="rId28"/>
    <p:sldId id="290" r:id="rId29"/>
    <p:sldId id="291" r:id="rId30"/>
    <p:sldId id="27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2592" autoAdjust="0"/>
  </p:normalViewPr>
  <p:slideViewPr>
    <p:cSldViewPr snapToGrid="0">
      <p:cViewPr>
        <p:scale>
          <a:sx n="66" d="100"/>
          <a:sy n="66" d="100"/>
        </p:scale>
        <p:origin x="13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E1F01-CD77-497E-B740-5D1280C771E3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5B74B-9CED-44B2-AFB6-29372D6F1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3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6D4A4-0DC5-4397-9A63-862274365A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42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2B9A6-A993-4A37-8D25-D495A25A4529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825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9068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0688"/>
            <a:ext cx="9144000" cy="5167311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00F9E-32D7-4DBF-8711-924EC9424E1A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0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DA3B8-808E-4AEC-9F3F-1B1DA14D593B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4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3B64F-8DD0-4BCD-AD00-C26C7C45597F}" type="datetime1">
              <a:rPr lang="en-US" smtClean="0"/>
              <a:t>10/11/2019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9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4FEA-A149-4CFD-8293-6A571013CFC2}" type="datetime1">
              <a:rPr lang="en-US" smtClean="0"/>
              <a:t>10/11/2019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899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04D2-E177-4160-AA71-09466027EDB5}" type="datetime1">
              <a:rPr lang="en-US" smtClean="0"/>
              <a:t>10/11/2019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6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5923-43AD-4FAD-9C80-BAD64AA0B016}" type="datetime1">
              <a:rPr lang="en-US" smtClean="0"/>
              <a:t>10/11/2019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0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69D5E-1008-480E-A10C-E65324BA08C3}" type="datetime1">
              <a:rPr lang="en-US" smtClean="0"/>
              <a:t>10/11/2019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0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8C21-8127-4EEA-B5B3-B40D793BD8B1}" type="datetime1">
              <a:rPr lang="en-US" smtClean="0"/>
              <a:t>10/11/2019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1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FFE8-A838-42D7-A3C8-3E3B7FB5A31F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5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4462-21B3-42DC-AE73-010057480690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8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9B146-FCEF-4701-9955-38904C550093}" type="datetime1">
              <a:rPr lang="en-US" smtClean="0"/>
              <a:t>10/11/2019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B8FA7-E6D7-4984-BE45-1DEFAB8D2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9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8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kstazi.org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ackosar/gitflow-incremental-builder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ugust782/gitflow-incremental-builder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127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Understanding and Improving Regression Test Selection in Continuous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94038"/>
            <a:ext cx="6858000" cy="3255962"/>
          </a:xfrm>
        </p:spPr>
        <p:txBody>
          <a:bodyPr/>
          <a:lstStyle/>
          <a:p>
            <a:r>
              <a:rPr lang="en-US" b="1" dirty="0" smtClean="0"/>
              <a:t>August Shi</a:t>
            </a:r>
            <a:r>
              <a:rPr lang="en-US" dirty="0" smtClean="0"/>
              <a:t>, Peiyuan Zhao, Darko Marinov</a:t>
            </a:r>
          </a:p>
          <a:p>
            <a:endParaRPr lang="en-US" b="1" dirty="0" smtClean="0"/>
          </a:p>
          <a:p>
            <a:r>
              <a:rPr lang="en-US" dirty="0" smtClean="0"/>
              <a:t>Practical Experience Report</a:t>
            </a:r>
            <a:endParaRPr lang="en-US" dirty="0"/>
          </a:p>
          <a:p>
            <a:r>
              <a:rPr lang="en-US" dirty="0" smtClean="0"/>
              <a:t>ISSRE 2019</a:t>
            </a:r>
          </a:p>
          <a:p>
            <a:r>
              <a:rPr lang="en-US" dirty="0" smtClean="0"/>
              <a:t>Berlin, Germany</a:t>
            </a:r>
          </a:p>
          <a:p>
            <a:r>
              <a:rPr lang="en-US" dirty="0" smtClean="0"/>
              <a:t>October 30, 2019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7826" y="5531564"/>
            <a:ext cx="12541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CCF-1421503 CNS-1646305 CNS-1740916</a:t>
            </a:r>
            <a:endParaRPr lang="en-US" sz="1400" dirty="0"/>
          </a:p>
          <a:p>
            <a:r>
              <a:rPr lang="en-US" sz="1400" dirty="0" smtClean="0"/>
              <a:t>CCF-1763788 OAC-1839010</a:t>
            </a:r>
            <a:endParaRPr lang="en-US" sz="1600" dirty="0"/>
          </a:p>
        </p:txBody>
      </p:sp>
      <p:pic>
        <p:nvPicPr>
          <p:cNvPr id="6" name="Picture 10" descr="Image result for nsf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05975"/>
            <a:ext cx="1444476" cy="145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futurewe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677" y="6197280"/>
            <a:ext cx="1361068" cy="56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Each letter of &quot;Google&quot; is colored (from left to right) in blue, red, yellow, blue, green, and red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844" y="6348733"/>
            <a:ext cx="1023125" cy="34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Image result for facebook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831" y="6260564"/>
            <a:ext cx="1171748" cy="44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https://dl.boxcloud.com/api/2.0/internal_files/209170059076/versions/221189039940/representations/png_paged_2048x2048/content/1.png?access_token=1!NYjegSOgsCNIoY8kXIwHuYmERUvLkwvFehdJ8SFpoXsnvytQ1x7rVPAmDN44gHRILiuP0eMIMjbcMvn2S7PNDQWH9sqajypF2PCUxdicrzWjfoE8__oFcYC6iAj66_wThHa1aeLVOg_GJnOHONjwa-Ji2TUPWUEEjRNFgZpk4cHHbvHBS-6eMGm1_k9Jy-pYDUkjPkrlTptX6odL6Mc65xrJuAAPwa1KOnEVHPy7Hnz7d0D4cSt5f7ONpt-wTqLz-0CV3yokHVWZwA6X5r_54HSudkxpmhmFE5bKGcMe7awWwZ9nITMN5muZtrb1cQfdjVrcNwfJQAohi6xIuqWNaDnB9D6WKp-QvEvb3oxdJor2-Z5vliqGCaZxJBYFff5D5SsuXa4z8IAr1tgVdD4se0VBDcwwG4xQT4w5u3TYAEY0XQi44arAYsGmcscxeMUJXOi2643WR7pK0AU6mdxu&amp;shared_link=https%3A%2F%2Fuofi.app.box.com%2Fv%2FIllinois-Logo&amp;box_client_name=box-content-preview&amp;box_client_version=1.46.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410" y="6040713"/>
            <a:ext cx="508000" cy="73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1gew6o3qn6vx9kp3s42ge0y1-wpengine.netdna-ssl.com/wp-content/uploads/2012/08/8867.Microsoft_5F00_Logo_2D00_for_2D00_screen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238" y="6142204"/>
            <a:ext cx="1842903" cy="67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98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D33FD-34F0-4A48-B236-7B796B95E162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FE1AC-DD50-41AC-B545-09B2FFFB0F4E}"/>
              </a:ext>
            </a:extLst>
          </p:cNvPr>
          <p:cNvSpPr txBox="1"/>
          <p:nvPr/>
        </p:nvSpPr>
        <p:spPr>
          <a:xfrm>
            <a:off x="150246" y="6295547"/>
            <a:ext cx="1984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Developers</a:t>
            </a:r>
          </a:p>
        </p:txBody>
      </p:sp>
      <p:pic>
        <p:nvPicPr>
          <p:cNvPr id="6" name="Graphic 6" descr="Computer">
            <a:extLst>
              <a:ext uri="{FF2B5EF4-FFF2-40B4-BE49-F238E27FC236}">
                <a16:creationId xmlns:a16="http://schemas.microsoft.com/office/drawing/2014/main" id="{F6753B5B-43A6-4452-833A-B0795CEF7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08895" y="2172697"/>
            <a:ext cx="1197208" cy="1197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86E37A-3461-4DC3-8408-6D2298C952E4}"/>
              </a:ext>
            </a:extLst>
          </p:cNvPr>
          <p:cNvSpPr txBox="1"/>
          <p:nvPr/>
        </p:nvSpPr>
        <p:spPr>
          <a:xfrm>
            <a:off x="194277" y="1681009"/>
            <a:ext cx="2508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Version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8144F-B80A-4131-904E-BDD21223F9F5}"/>
              </a:ext>
            </a:extLst>
          </p:cNvPr>
          <p:cNvSpPr txBox="1"/>
          <p:nvPr/>
        </p:nvSpPr>
        <p:spPr>
          <a:xfrm rot="16200000">
            <a:off x="297801" y="3525653"/>
            <a:ext cx="1269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Commit Changes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0CD891-DE5B-45C0-B72D-B2D13C5D7C6E}"/>
              </a:ext>
            </a:extLst>
          </p:cNvPr>
          <p:cNvSpPr/>
          <p:nvPr/>
        </p:nvSpPr>
        <p:spPr>
          <a:xfrm>
            <a:off x="519211" y="4568119"/>
            <a:ext cx="382417" cy="38241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E5457D-EA84-4299-B74A-D0FC34A98524}"/>
              </a:ext>
            </a:extLst>
          </p:cNvPr>
          <p:cNvSpPr/>
          <p:nvPr/>
        </p:nvSpPr>
        <p:spPr>
          <a:xfrm>
            <a:off x="2007408" y="2496404"/>
            <a:ext cx="382417" cy="38241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DED5C9-A968-4678-BD4C-8A2CD99CE18C}"/>
              </a:ext>
            </a:extLst>
          </p:cNvPr>
          <p:cNvSpPr/>
          <p:nvPr/>
        </p:nvSpPr>
        <p:spPr>
          <a:xfrm>
            <a:off x="2588247" y="3369905"/>
            <a:ext cx="382417" cy="38241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  <a:endParaRPr lang="en-US" sz="24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252834-701B-4749-816D-C1D22097828A}"/>
              </a:ext>
            </a:extLst>
          </p:cNvPr>
          <p:cNvCxnSpPr>
            <a:cxnSpLocks/>
          </p:cNvCxnSpPr>
          <p:nvPr/>
        </p:nvCxnSpPr>
        <p:spPr>
          <a:xfrm flipV="1">
            <a:off x="947311" y="3182992"/>
            <a:ext cx="0" cy="1899217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779197-29AE-48E2-8800-A20C16B7F59F}"/>
              </a:ext>
            </a:extLst>
          </p:cNvPr>
          <p:cNvSpPr txBox="1"/>
          <p:nvPr/>
        </p:nvSpPr>
        <p:spPr>
          <a:xfrm>
            <a:off x="2404125" y="2479908"/>
            <a:ext cx="216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Fetch Changes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1261E8-03D7-4304-BDA3-898056814F4F}"/>
              </a:ext>
            </a:extLst>
          </p:cNvPr>
          <p:cNvCxnSpPr>
            <a:cxnSpLocks/>
          </p:cNvCxnSpPr>
          <p:nvPr/>
        </p:nvCxnSpPr>
        <p:spPr>
          <a:xfrm>
            <a:off x="1838036" y="2941573"/>
            <a:ext cx="2276764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436B467-D71A-414F-81F9-648825647763}"/>
              </a:ext>
            </a:extLst>
          </p:cNvPr>
          <p:cNvSpPr/>
          <p:nvPr/>
        </p:nvSpPr>
        <p:spPr>
          <a:xfrm>
            <a:off x="2571479" y="6130006"/>
            <a:ext cx="382417" cy="38241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F113E8-B6AC-4E3D-AFA2-65F8B85B3D52}"/>
              </a:ext>
            </a:extLst>
          </p:cNvPr>
          <p:cNvSpPr txBox="1"/>
          <p:nvPr/>
        </p:nvSpPr>
        <p:spPr>
          <a:xfrm>
            <a:off x="2941483" y="6151470"/>
            <a:ext cx="2157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Release/Deploy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95DBB3-1091-48AD-821F-1A0698908C19}"/>
              </a:ext>
            </a:extLst>
          </p:cNvPr>
          <p:cNvGrpSpPr/>
          <p:nvPr/>
        </p:nvGrpSpPr>
        <p:grpSpPr>
          <a:xfrm>
            <a:off x="287185" y="5305654"/>
            <a:ext cx="1474580" cy="1120704"/>
            <a:chOff x="268797" y="5199023"/>
            <a:chExt cx="2248210" cy="140288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EF6EA0A-1EAB-46BF-81F5-FDDD5CCA6433}"/>
                </a:ext>
              </a:extLst>
            </p:cNvPr>
            <p:cNvGrpSpPr/>
            <p:nvPr/>
          </p:nvGrpSpPr>
          <p:grpSpPr>
            <a:xfrm>
              <a:off x="488666" y="5199023"/>
              <a:ext cx="1162934" cy="713008"/>
              <a:chOff x="9253276" y="929052"/>
              <a:chExt cx="1162934" cy="713008"/>
            </a:xfrm>
          </p:grpSpPr>
          <p:pic>
            <p:nvPicPr>
              <p:cNvPr id="29" name="Graphic 55" descr="Laptop">
                <a:extLst>
                  <a:ext uri="{FF2B5EF4-FFF2-40B4-BE49-F238E27FC236}">
                    <a16:creationId xmlns:a16="http://schemas.microsoft.com/office/drawing/2014/main" id="{D6E0B525-C17D-42B5-9AF8-C84BD6C04E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rcRect t="17436" b="18139"/>
              <a:stretch/>
            </p:blipFill>
            <p:spPr>
              <a:xfrm>
                <a:off x="9575186" y="929052"/>
                <a:ext cx="841024" cy="541830"/>
              </a:xfrm>
              <a:prstGeom prst="rect">
                <a:avLst/>
              </a:prstGeom>
            </p:spPr>
          </p:pic>
          <p:pic>
            <p:nvPicPr>
              <p:cNvPr id="30" name="Graphic 56" descr="User">
                <a:extLst>
                  <a:ext uri="{FF2B5EF4-FFF2-40B4-BE49-F238E27FC236}">
                    <a16:creationId xmlns:a16="http://schemas.microsoft.com/office/drawing/2014/main" id="{1C2514D5-78A1-418D-B8C4-13924AD2EA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9253276" y="957759"/>
                <a:ext cx="684301" cy="684301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331B06B-B840-45EA-93E2-CDA073C9F732}"/>
                </a:ext>
              </a:extLst>
            </p:cNvPr>
            <p:cNvGrpSpPr/>
            <p:nvPr/>
          </p:nvGrpSpPr>
          <p:grpSpPr>
            <a:xfrm>
              <a:off x="1354073" y="5315976"/>
              <a:ext cx="1162934" cy="713008"/>
              <a:chOff x="9253276" y="929052"/>
              <a:chExt cx="1162934" cy="713008"/>
            </a:xfrm>
          </p:grpSpPr>
          <p:pic>
            <p:nvPicPr>
              <p:cNvPr id="27" name="Graphic 58" descr="Laptop">
                <a:extLst>
                  <a:ext uri="{FF2B5EF4-FFF2-40B4-BE49-F238E27FC236}">
                    <a16:creationId xmlns:a16="http://schemas.microsoft.com/office/drawing/2014/main" id="{3AB9D09C-F94C-446F-8389-063EEF87ED7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rcRect t="17436" b="18139"/>
              <a:stretch/>
            </p:blipFill>
            <p:spPr>
              <a:xfrm>
                <a:off x="9575186" y="929052"/>
                <a:ext cx="841024" cy="541830"/>
              </a:xfrm>
              <a:prstGeom prst="rect">
                <a:avLst/>
              </a:prstGeom>
            </p:spPr>
          </p:pic>
          <p:pic>
            <p:nvPicPr>
              <p:cNvPr id="28" name="Graphic 59" descr="User">
                <a:extLst>
                  <a:ext uri="{FF2B5EF4-FFF2-40B4-BE49-F238E27FC236}">
                    <a16:creationId xmlns:a16="http://schemas.microsoft.com/office/drawing/2014/main" id="{B5ADCEEE-9451-4CC4-964B-B941D151E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9253276" y="957759"/>
                <a:ext cx="684301" cy="684301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C361351-D1D0-45B4-A171-01A25F57F9A3}"/>
                </a:ext>
              </a:extLst>
            </p:cNvPr>
            <p:cNvGrpSpPr/>
            <p:nvPr/>
          </p:nvGrpSpPr>
          <p:grpSpPr>
            <a:xfrm>
              <a:off x="268797" y="5753609"/>
              <a:ext cx="1162934" cy="713008"/>
              <a:chOff x="9253276" y="929052"/>
              <a:chExt cx="1162934" cy="713008"/>
            </a:xfrm>
          </p:grpSpPr>
          <p:pic>
            <p:nvPicPr>
              <p:cNvPr id="25" name="Graphic 61" descr="Laptop">
                <a:extLst>
                  <a:ext uri="{FF2B5EF4-FFF2-40B4-BE49-F238E27FC236}">
                    <a16:creationId xmlns:a16="http://schemas.microsoft.com/office/drawing/2014/main" id="{9748FDF8-28B8-4E8B-B660-4DEDADFCBF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rcRect t="17436" b="18139"/>
              <a:stretch/>
            </p:blipFill>
            <p:spPr>
              <a:xfrm>
                <a:off x="9575186" y="929052"/>
                <a:ext cx="841024" cy="541830"/>
              </a:xfrm>
              <a:prstGeom prst="rect">
                <a:avLst/>
              </a:prstGeom>
            </p:spPr>
          </p:pic>
          <p:pic>
            <p:nvPicPr>
              <p:cNvPr id="26" name="Graphic 62" descr="User">
                <a:extLst>
                  <a:ext uri="{FF2B5EF4-FFF2-40B4-BE49-F238E27FC236}">
                    <a16:creationId xmlns:a16="http://schemas.microsoft.com/office/drawing/2014/main" id="{5C50BCF7-3BF6-40C0-85F6-BC85CDCFFD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9253276" y="957759"/>
                <a:ext cx="684301" cy="684301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3FF2CDB-12B2-4EA6-B77B-765D4016C114}"/>
                </a:ext>
              </a:extLst>
            </p:cNvPr>
            <p:cNvGrpSpPr/>
            <p:nvPr/>
          </p:nvGrpSpPr>
          <p:grpSpPr>
            <a:xfrm>
              <a:off x="1243481" y="5888897"/>
              <a:ext cx="1162934" cy="713008"/>
              <a:chOff x="9253276" y="929052"/>
              <a:chExt cx="1162934" cy="713008"/>
            </a:xfrm>
          </p:grpSpPr>
          <p:pic>
            <p:nvPicPr>
              <p:cNvPr id="23" name="Graphic 64" descr="Laptop">
                <a:extLst>
                  <a:ext uri="{FF2B5EF4-FFF2-40B4-BE49-F238E27FC236}">
                    <a16:creationId xmlns:a16="http://schemas.microsoft.com/office/drawing/2014/main" id="{3E8A0BB9-BB88-405B-BE32-353EE4E1B7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rcRect t="17436" b="18139"/>
              <a:stretch/>
            </p:blipFill>
            <p:spPr>
              <a:xfrm>
                <a:off x="9575186" y="929052"/>
                <a:ext cx="841024" cy="541830"/>
              </a:xfrm>
              <a:prstGeom prst="rect">
                <a:avLst/>
              </a:prstGeom>
            </p:spPr>
          </p:pic>
          <p:pic>
            <p:nvPicPr>
              <p:cNvPr id="24" name="Graphic 65" descr="User">
                <a:extLst>
                  <a:ext uri="{FF2B5EF4-FFF2-40B4-BE49-F238E27FC236}">
                    <a16:creationId xmlns:a16="http://schemas.microsoft.com/office/drawing/2014/main" id="{DD26BC77-5A5E-48C6-BEE0-694B392AF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9253276" y="957759"/>
                <a:ext cx="684301" cy="684301"/>
              </a:xfrm>
              <a:prstGeom prst="rect">
                <a:avLst/>
              </a:prstGeom>
            </p:spPr>
          </p:pic>
        </p:grpSp>
      </p:grpSp>
      <p:pic>
        <p:nvPicPr>
          <p:cNvPr id="38" name="Graphic 52" descr="Computer">
            <a:extLst>
              <a:ext uri="{FF2B5EF4-FFF2-40B4-BE49-F238E27FC236}">
                <a16:creationId xmlns:a16="http://schemas.microsoft.com/office/drawing/2014/main" id="{191B0B49-06D4-45CC-9201-85E615A79E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96180" y="2338377"/>
            <a:ext cx="1629768" cy="181225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2FBC824-10E3-44CF-BB0B-4B8B9BC077D8}"/>
              </a:ext>
            </a:extLst>
          </p:cNvPr>
          <p:cNvSpPr txBox="1"/>
          <p:nvPr/>
        </p:nvSpPr>
        <p:spPr>
          <a:xfrm>
            <a:off x="4759586" y="1688334"/>
            <a:ext cx="1502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CI Server</a:t>
            </a:r>
            <a:endParaRPr lang="en-US" sz="2800" dirty="0"/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F6B06C41-4062-49A8-9D79-6DE1ED739F74}"/>
              </a:ext>
            </a:extLst>
          </p:cNvPr>
          <p:cNvSpPr/>
          <p:nvPr/>
        </p:nvSpPr>
        <p:spPr>
          <a:xfrm>
            <a:off x="2050456" y="4700844"/>
            <a:ext cx="829159" cy="720740"/>
          </a:xfrm>
          <a:prstGeom prst="diamond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?</a:t>
            </a:r>
          </a:p>
        </p:txBody>
      </p:sp>
      <p:cxnSp>
        <p:nvCxnSpPr>
          <p:cNvPr id="41" name="Connector: Elbow 12">
            <a:extLst>
              <a:ext uri="{FF2B5EF4-FFF2-40B4-BE49-F238E27FC236}">
                <a16:creationId xmlns:a16="http://schemas.microsoft.com/office/drawing/2014/main" id="{FE02A471-897B-4615-B289-0E71BEF03DB0}"/>
              </a:ext>
            </a:extLst>
          </p:cNvPr>
          <p:cNvCxnSpPr>
            <a:endCxn id="40" idx="0"/>
          </p:cNvCxnSpPr>
          <p:nvPr/>
        </p:nvCxnSpPr>
        <p:spPr>
          <a:xfrm rot="10800000" flipV="1">
            <a:off x="2465037" y="3217252"/>
            <a:ext cx="1555317" cy="1483592"/>
          </a:xfrm>
          <a:prstGeom prst="bentConnector2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C4946C7-542A-4D3B-A649-E56026C23B0F}"/>
              </a:ext>
            </a:extLst>
          </p:cNvPr>
          <p:cNvSpPr txBox="1"/>
          <p:nvPr/>
        </p:nvSpPr>
        <p:spPr>
          <a:xfrm>
            <a:off x="2947299" y="3330282"/>
            <a:ext cx="128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Pass/Fail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B08F2E9-F4E1-4BC7-BC7D-452EFCE81DA4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999007" y="5061214"/>
            <a:ext cx="1051449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76">
            <a:extLst>
              <a:ext uri="{FF2B5EF4-FFF2-40B4-BE49-F238E27FC236}">
                <a16:creationId xmlns:a16="http://schemas.microsoft.com/office/drawing/2014/main" id="{B63EBB09-14F6-4FCD-BB38-2EF8E9C29BF8}"/>
              </a:ext>
            </a:extLst>
          </p:cNvPr>
          <p:cNvCxnSpPr>
            <a:cxnSpLocks/>
            <a:endCxn id="40" idx="2"/>
          </p:cNvCxnSpPr>
          <p:nvPr/>
        </p:nvCxnSpPr>
        <p:spPr>
          <a:xfrm rot="10800000">
            <a:off x="2465036" y="5421584"/>
            <a:ext cx="2413906" cy="1193174"/>
          </a:xfrm>
          <a:prstGeom prst="bentConnector2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935799" y="4380121"/>
            <a:ext cx="1367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Travis CI</a:t>
            </a:r>
            <a:endParaRPr lang="en-US" sz="2800" dirty="0"/>
          </a:p>
        </p:txBody>
      </p:sp>
      <p:sp>
        <p:nvSpPr>
          <p:cNvPr id="49" name="Cloud 48"/>
          <p:cNvSpPr/>
          <p:nvPr/>
        </p:nvSpPr>
        <p:spPr>
          <a:xfrm>
            <a:off x="4129100" y="2204229"/>
            <a:ext cx="2801537" cy="2170875"/>
          </a:xfrm>
          <a:prstGeom prst="clou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509025" y="1235960"/>
            <a:ext cx="2004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Cloud-based</a:t>
            </a:r>
            <a:endParaRPr lang="en-US" sz="2800" dirty="0"/>
          </a:p>
        </p:txBody>
      </p:sp>
      <p:sp>
        <p:nvSpPr>
          <p:cNvPr id="57" name="TextBox 56"/>
          <p:cNvSpPr txBox="1"/>
          <p:nvPr/>
        </p:nvSpPr>
        <p:spPr>
          <a:xfrm>
            <a:off x="6048173" y="644932"/>
            <a:ext cx="31323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Build/test code from scratch</a:t>
            </a:r>
          </a:p>
          <a:p>
            <a:r>
              <a:rPr lang="en-US" sz="2000" dirty="0" smtClean="0"/>
              <a:t>on fresh machine</a:t>
            </a:r>
            <a:endParaRPr lang="en-US" sz="2000" dirty="0"/>
          </a:p>
        </p:txBody>
      </p:sp>
      <p:sp>
        <p:nvSpPr>
          <p:cNvPr id="58" name="TextBox 57"/>
          <p:cNvSpPr txBox="1"/>
          <p:nvPr/>
        </p:nvSpPr>
        <p:spPr>
          <a:xfrm>
            <a:off x="6944937" y="2686138"/>
            <a:ext cx="9220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Build</a:t>
            </a:r>
          </a:p>
          <a:p>
            <a:r>
              <a:rPr lang="en-US" sz="2800" dirty="0" smtClean="0"/>
              <a:t>Test</a:t>
            </a:r>
            <a:endParaRPr lang="en-US" sz="2800" dirty="0"/>
          </a:p>
        </p:txBody>
      </p:sp>
      <p:sp>
        <p:nvSpPr>
          <p:cNvPr id="59" name="Oval 58"/>
          <p:cNvSpPr/>
          <p:nvPr/>
        </p:nvSpPr>
        <p:spPr>
          <a:xfrm>
            <a:off x="6944937" y="3153033"/>
            <a:ext cx="826205" cy="5019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866984" y="4225933"/>
            <a:ext cx="992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Slow!</a:t>
            </a:r>
            <a:endParaRPr lang="en-US" sz="2800" dirty="0">
              <a:solidFill>
                <a:srgbClr val="FF0000"/>
              </a:solidFill>
            </a:endParaRPr>
          </a:p>
        </p:txBody>
      </p:sp>
      <p:cxnSp>
        <p:nvCxnSpPr>
          <p:cNvPr id="62" name="Straight Arrow Connector 61"/>
          <p:cNvCxnSpPr>
            <a:stCxn id="60" idx="1"/>
            <a:endCxn id="59" idx="4"/>
          </p:cNvCxnSpPr>
          <p:nvPr/>
        </p:nvCxnSpPr>
        <p:spPr>
          <a:xfrm flipH="1" flipV="1">
            <a:off x="7358040" y="3654950"/>
            <a:ext cx="508944" cy="8325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935799" y="4878914"/>
            <a:ext cx="32534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Facebook Buck</a:t>
            </a:r>
          </a:p>
          <a:p>
            <a:r>
              <a:rPr lang="en-US" sz="2800" dirty="0" smtClean="0"/>
              <a:t>Google Tap</a:t>
            </a:r>
          </a:p>
          <a:p>
            <a:r>
              <a:rPr lang="en-US" sz="2800" dirty="0" smtClean="0"/>
              <a:t>Microsoft </a:t>
            </a:r>
            <a:r>
              <a:rPr lang="en-US" sz="2800" dirty="0" err="1" smtClean="0"/>
              <a:t>CloudBuild</a:t>
            </a:r>
            <a:endParaRPr lang="en-US" sz="2800" dirty="0"/>
          </a:p>
        </p:txBody>
      </p:sp>
      <p:sp>
        <p:nvSpPr>
          <p:cNvPr id="64" name="TextBox 63"/>
          <p:cNvSpPr txBox="1"/>
          <p:nvPr/>
        </p:nvSpPr>
        <p:spPr>
          <a:xfrm>
            <a:off x="1504605" y="4648081"/>
            <a:ext cx="665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Fail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499283" y="5294339"/>
            <a:ext cx="751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/>
                </a:solidFill>
              </a:rPr>
              <a:t>Pass</a:t>
            </a:r>
            <a:endParaRPr lang="en-US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48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  <p:bldP spid="11" grpId="0" animBg="1"/>
      <p:bldP spid="13" grpId="0"/>
      <p:bldP spid="15" grpId="0" animBg="1"/>
      <p:bldP spid="16" grpId="0"/>
      <p:bldP spid="39" grpId="0"/>
      <p:bldP spid="40" grpId="0" animBg="1"/>
      <p:bldP spid="42" grpId="0"/>
      <p:bldP spid="53" grpId="0"/>
      <p:bldP spid="49" grpId="0" animBg="1"/>
      <p:bldP spid="55" grpId="0"/>
      <p:bldP spid="57" grpId="0"/>
      <p:bldP spid="58" grpId="0"/>
      <p:bldP spid="59" grpId="0" animBg="1"/>
      <p:bldP spid="60" grpId="0"/>
      <p:bldP spid="63" grpId="0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Regression Test Selection (RTS)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37376" y="2123211"/>
            <a:ext cx="1661165" cy="3254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/>
              <a:t>Code Under </a:t>
            </a:r>
            <a:r>
              <a:rPr lang="en-US" sz="2400" dirty="0" smtClean="0"/>
              <a:t>Test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dirty="0"/>
              <a:t>v</a:t>
            </a:r>
            <a:r>
              <a:rPr lang="en-US" sz="2400" dirty="0" smtClean="0"/>
              <a:t>1733</a:t>
            </a:r>
            <a:endParaRPr lang="en-US" sz="2400" dirty="0" smtClean="0"/>
          </a:p>
        </p:txBody>
      </p:sp>
      <p:sp>
        <p:nvSpPr>
          <p:cNvPr id="5" name="TextBox 3"/>
          <p:cNvSpPr txBox="1"/>
          <p:nvPr/>
        </p:nvSpPr>
        <p:spPr>
          <a:xfrm>
            <a:off x="2271833" y="1485262"/>
            <a:ext cx="902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/>
              <a:t>Tests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5991860" y="2123211"/>
            <a:ext cx="1661165" cy="32547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/>
              <a:t>Code Under </a:t>
            </a:r>
            <a:r>
              <a:rPr lang="en-US" sz="2400" dirty="0" smtClean="0"/>
              <a:t>Test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dirty="0"/>
              <a:t>v</a:t>
            </a:r>
            <a:r>
              <a:rPr lang="en-US" sz="2400" dirty="0" smtClean="0"/>
              <a:t>1734</a:t>
            </a:r>
            <a:endParaRPr lang="en-US" sz="2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3606780" y="5894686"/>
            <a:ext cx="118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Change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8" name="Curved Connector 7"/>
          <p:cNvCxnSpPr>
            <a:stCxn id="4" idx="2"/>
            <a:endCxn id="6" idx="2"/>
          </p:cNvCxnSpPr>
          <p:nvPr/>
        </p:nvCxnSpPr>
        <p:spPr>
          <a:xfrm rot="16200000" flipH="1">
            <a:off x="4195201" y="2750699"/>
            <a:ext cx="12700" cy="5254484"/>
          </a:xfrm>
          <a:prstGeom prst="curvedConnector3">
            <a:avLst>
              <a:gd name="adj1" fmla="val 423115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98541" y="2123211"/>
            <a:ext cx="64953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T0</a:t>
            </a:r>
          </a:p>
          <a:p>
            <a:r>
              <a:rPr lang="en-US" sz="3200" dirty="0" smtClean="0"/>
              <a:t>T1</a:t>
            </a:r>
          </a:p>
          <a:p>
            <a:r>
              <a:rPr lang="en-US" sz="3200" dirty="0" smtClean="0"/>
              <a:t>T2</a:t>
            </a:r>
          </a:p>
          <a:p>
            <a:r>
              <a:rPr lang="en-US" sz="3200" dirty="0" smtClean="0"/>
              <a:t>T3</a:t>
            </a:r>
          </a:p>
          <a:p>
            <a:r>
              <a:rPr lang="en-US" sz="3200" dirty="0" smtClean="0"/>
              <a:t>…</a:t>
            </a:r>
          </a:p>
          <a:p>
            <a:r>
              <a:rPr lang="en-US" sz="3200" dirty="0" smtClean="0"/>
              <a:t>TN</a:t>
            </a:r>
            <a:endParaRPr lang="en-US" sz="3200" dirty="0"/>
          </a:p>
        </p:txBody>
      </p:sp>
      <p:sp>
        <p:nvSpPr>
          <p:cNvPr id="10" name="TextBox 3"/>
          <p:cNvSpPr txBox="1"/>
          <p:nvPr/>
        </p:nvSpPr>
        <p:spPr>
          <a:xfrm>
            <a:off x="7526318" y="1485262"/>
            <a:ext cx="902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/>
              <a:t>Tests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653025" y="2123211"/>
            <a:ext cx="64953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T0</a:t>
            </a:r>
          </a:p>
          <a:p>
            <a:r>
              <a:rPr lang="en-US" sz="3200" dirty="0" smtClean="0">
                <a:solidFill>
                  <a:schemeClr val="bg2"/>
                </a:solidFill>
              </a:rPr>
              <a:t>T1</a:t>
            </a:r>
          </a:p>
          <a:p>
            <a:r>
              <a:rPr lang="en-US" sz="3200" dirty="0" smtClean="0"/>
              <a:t>T2</a:t>
            </a:r>
          </a:p>
          <a:p>
            <a:r>
              <a:rPr lang="en-US" sz="3200" dirty="0" smtClean="0">
                <a:solidFill>
                  <a:schemeClr val="bg2"/>
                </a:solidFill>
              </a:rPr>
              <a:t>T3</a:t>
            </a:r>
          </a:p>
          <a:p>
            <a:r>
              <a:rPr lang="en-US" sz="3200" dirty="0" smtClean="0"/>
              <a:t>…</a:t>
            </a:r>
          </a:p>
          <a:p>
            <a:r>
              <a:rPr lang="en-US" sz="3200" dirty="0" smtClean="0"/>
              <a:t>TN</a:t>
            </a:r>
            <a:endParaRPr lang="en-US" sz="3200" dirty="0"/>
          </a:p>
        </p:txBody>
      </p:sp>
      <p:cxnSp>
        <p:nvCxnSpPr>
          <p:cNvPr id="12" name="Straight Arrow Connector 11"/>
          <p:cNvCxnSpPr>
            <a:stCxn id="7" idx="0"/>
            <a:endCxn id="17" idx="6"/>
          </p:cNvCxnSpPr>
          <p:nvPr/>
        </p:nvCxnSpPr>
        <p:spPr>
          <a:xfrm flipH="1" flipV="1">
            <a:off x="2963995" y="4880576"/>
            <a:ext cx="1237556" cy="10141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0"/>
            <a:endCxn id="16" idx="6"/>
          </p:cNvCxnSpPr>
          <p:nvPr/>
        </p:nvCxnSpPr>
        <p:spPr>
          <a:xfrm flipH="1" flipV="1">
            <a:off x="2934916" y="3410923"/>
            <a:ext cx="1266635" cy="2483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0"/>
            <a:endCxn id="15" idx="6"/>
          </p:cNvCxnSpPr>
          <p:nvPr/>
        </p:nvCxnSpPr>
        <p:spPr>
          <a:xfrm flipH="1" flipV="1">
            <a:off x="2936613" y="2414008"/>
            <a:ext cx="1264938" cy="34806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55239" y="2178225"/>
            <a:ext cx="481374" cy="4715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453542" y="3175140"/>
            <a:ext cx="481374" cy="4715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482621" y="4644793"/>
            <a:ext cx="481374" cy="4715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3</a:t>
            </a:fld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044944" y="6308080"/>
            <a:ext cx="7054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Track dependencies between tests and code under test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384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1" grpId="0"/>
      <p:bldP spid="15" grpId="0" animBg="1"/>
      <p:bldP spid="16" grpId="0" animBg="1"/>
      <p:bldP spid="17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3185965"/>
            <a:ext cx="3135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/>
              <a:t>Class</a:t>
            </a:r>
            <a:r>
              <a:rPr lang="en-US" sz="5400" dirty="0" smtClean="0"/>
              <a:t>-level</a:t>
            </a:r>
            <a:endParaRPr lang="en-US" sz="5400" dirty="0"/>
          </a:p>
        </p:txBody>
      </p:sp>
      <p:sp>
        <p:nvSpPr>
          <p:cNvPr id="6" name="TextBox 5"/>
          <p:cNvSpPr txBox="1"/>
          <p:nvPr/>
        </p:nvSpPr>
        <p:spPr>
          <a:xfrm>
            <a:off x="5066152" y="3185965"/>
            <a:ext cx="39447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/>
              <a:t>Module</a:t>
            </a:r>
            <a:r>
              <a:rPr lang="en-US" sz="5400" dirty="0" smtClean="0"/>
              <a:t>-level</a:t>
            </a:r>
            <a:endParaRPr lang="en-US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3774570" y="3185965"/>
            <a:ext cx="785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/>
              <a:t>vs</a:t>
            </a:r>
            <a:endParaRPr lang="en-US" sz="5400" dirty="0"/>
          </a:p>
        </p:txBody>
      </p:sp>
      <p:sp>
        <p:nvSpPr>
          <p:cNvPr id="8" name="TextBox 7"/>
          <p:cNvSpPr txBox="1"/>
          <p:nvPr/>
        </p:nvSpPr>
        <p:spPr>
          <a:xfrm>
            <a:off x="478560" y="4109295"/>
            <a:ext cx="2311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(Academia)</a:t>
            </a:r>
            <a:endParaRPr lang="en-US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6101307" y="4109294"/>
            <a:ext cx="2007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(Industry)</a:t>
            </a:r>
            <a:endParaRPr 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478560" y="1712209"/>
            <a:ext cx="8396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/>
              <a:t>Granularity of Dependencies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19267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Class-level RTS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1058780" y="179575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C1</a:t>
            </a:r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2587593" y="311361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C2</a:t>
            </a: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3789147" y="3123242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C3</a:t>
            </a:r>
            <a:endParaRPr lang="en-US" dirty="0"/>
          </a:p>
        </p:txBody>
      </p:sp>
      <p:sp>
        <p:nvSpPr>
          <p:cNvPr id="65" name="Oval 64"/>
          <p:cNvSpPr/>
          <p:nvPr/>
        </p:nvSpPr>
        <p:spPr>
          <a:xfrm>
            <a:off x="5212082" y="179575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C4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6375135" y="179575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C5</a:t>
            </a:r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1058780" y="2870426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587593" y="4206734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3789147" y="4206734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5212082" y="2870426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71" name="Oval 70"/>
          <p:cNvSpPr/>
          <p:nvPr/>
        </p:nvSpPr>
        <p:spPr>
          <a:xfrm>
            <a:off x="6374591" y="2872878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T5</a:t>
            </a:r>
            <a:endParaRPr lang="en-US" dirty="0"/>
          </a:p>
        </p:txBody>
      </p:sp>
      <p:cxnSp>
        <p:nvCxnSpPr>
          <p:cNvPr id="73" name="Straight Arrow Connector 72"/>
          <p:cNvCxnSpPr>
            <a:stCxn id="67" idx="0"/>
            <a:endCxn id="62" idx="4"/>
          </p:cNvCxnSpPr>
          <p:nvPr/>
        </p:nvCxnSpPr>
        <p:spPr>
          <a:xfrm flipV="1">
            <a:off x="1424540" y="2527277"/>
            <a:ext cx="0" cy="343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68" idx="1"/>
            <a:endCxn id="62" idx="5"/>
          </p:cNvCxnSpPr>
          <p:nvPr/>
        </p:nvCxnSpPr>
        <p:spPr>
          <a:xfrm flipH="1" flipV="1">
            <a:off x="1683171" y="2420148"/>
            <a:ext cx="1011551" cy="1893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68" idx="0"/>
            <a:endCxn id="63" idx="4"/>
          </p:cNvCxnSpPr>
          <p:nvPr/>
        </p:nvCxnSpPr>
        <p:spPr>
          <a:xfrm flipV="1">
            <a:off x="2953353" y="3845137"/>
            <a:ext cx="0" cy="3615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9" idx="0"/>
            <a:endCxn id="64" idx="4"/>
          </p:cNvCxnSpPr>
          <p:nvPr/>
        </p:nvCxnSpPr>
        <p:spPr>
          <a:xfrm flipV="1">
            <a:off x="4154907" y="3854762"/>
            <a:ext cx="0" cy="351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71" idx="0"/>
            <a:endCxn id="66" idx="4"/>
          </p:cNvCxnSpPr>
          <p:nvPr/>
        </p:nvCxnSpPr>
        <p:spPr>
          <a:xfrm flipV="1">
            <a:off x="6740351" y="2527277"/>
            <a:ext cx="544" cy="345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70" idx="7"/>
            <a:endCxn id="66" idx="3"/>
          </p:cNvCxnSpPr>
          <p:nvPr/>
        </p:nvCxnSpPr>
        <p:spPr>
          <a:xfrm flipV="1">
            <a:off x="5836473" y="2420148"/>
            <a:ext cx="645791" cy="557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0" y="4919008"/>
            <a:ext cx="86627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Academia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Ekstazi</a:t>
            </a:r>
            <a:r>
              <a:rPr lang="en-US" sz="2400" dirty="0" smtClean="0"/>
              <a:t>, </a:t>
            </a:r>
            <a:r>
              <a:rPr lang="en-US" sz="2400" dirty="0" err="1" smtClean="0"/>
              <a:t>HyRTS</a:t>
            </a:r>
            <a:r>
              <a:rPr lang="en-US" sz="2400" dirty="0" smtClean="0"/>
              <a:t>, STARTS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Finer-grained selection (vs module-level)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Analysis can be somewhat slow (e.g., running instrumented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Can miss dependencies on non-code files</a:t>
            </a:r>
          </a:p>
        </p:txBody>
      </p:sp>
      <p:sp>
        <p:nvSpPr>
          <p:cNvPr id="161" name="Oval 160"/>
          <p:cNvSpPr/>
          <p:nvPr/>
        </p:nvSpPr>
        <p:spPr>
          <a:xfrm>
            <a:off x="5206021" y="1775654"/>
            <a:ext cx="731520" cy="731520"/>
          </a:xfrm>
          <a:prstGeom prst="ellipse">
            <a:avLst/>
          </a:prstGeom>
          <a:noFill/>
          <a:ln w="146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4909517" y="1356153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Changed</a:t>
            </a:r>
          </a:p>
        </p:txBody>
      </p:sp>
      <p:cxnSp>
        <p:nvCxnSpPr>
          <p:cNvPr id="94" name="Straight Arrow Connector 93"/>
          <p:cNvCxnSpPr>
            <a:stCxn id="70" idx="0"/>
            <a:endCxn id="65" idx="4"/>
          </p:cNvCxnSpPr>
          <p:nvPr/>
        </p:nvCxnSpPr>
        <p:spPr>
          <a:xfrm flipV="1">
            <a:off x="5577842" y="2527277"/>
            <a:ext cx="0" cy="343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69" idx="7"/>
            <a:endCxn id="65" idx="3"/>
          </p:cNvCxnSpPr>
          <p:nvPr/>
        </p:nvCxnSpPr>
        <p:spPr>
          <a:xfrm flipV="1">
            <a:off x="4413538" y="2420148"/>
            <a:ext cx="905673" cy="1893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Oval 164"/>
          <p:cNvSpPr/>
          <p:nvPr/>
        </p:nvSpPr>
        <p:spPr>
          <a:xfrm>
            <a:off x="5211184" y="2888855"/>
            <a:ext cx="731520" cy="7315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3789147" y="4206734"/>
            <a:ext cx="731520" cy="7315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/>
          <p:cNvSpPr txBox="1"/>
          <p:nvPr/>
        </p:nvSpPr>
        <p:spPr>
          <a:xfrm>
            <a:off x="3487479" y="4938254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Run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4909517" y="3601946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Run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305575" y="1896969"/>
            <a:ext cx="914400" cy="9144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Conf</a:t>
            </a:r>
            <a:endParaRPr lang="en-US" dirty="0"/>
          </a:p>
        </p:txBody>
      </p:sp>
      <p:sp>
        <p:nvSpPr>
          <p:cNvPr id="183" name="Oval 182"/>
          <p:cNvSpPr/>
          <p:nvPr/>
        </p:nvSpPr>
        <p:spPr>
          <a:xfrm>
            <a:off x="7305575" y="1896969"/>
            <a:ext cx="914400" cy="914400"/>
          </a:xfrm>
          <a:prstGeom prst="ellipse">
            <a:avLst/>
          </a:prstGeom>
          <a:noFill/>
          <a:ln w="146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83"/>
          <p:cNvSpPr txBox="1"/>
          <p:nvPr/>
        </p:nvSpPr>
        <p:spPr>
          <a:xfrm>
            <a:off x="7095347" y="1476090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Changed</a:t>
            </a:r>
          </a:p>
        </p:txBody>
      </p:sp>
      <p:cxnSp>
        <p:nvCxnSpPr>
          <p:cNvPr id="178" name="Straight Arrow Connector 177"/>
          <p:cNvCxnSpPr>
            <a:stCxn id="71" idx="7"/>
            <a:endCxn id="175" idx="3"/>
          </p:cNvCxnSpPr>
          <p:nvPr/>
        </p:nvCxnSpPr>
        <p:spPr>
          <a:xfrm flipV="1">
            <a:off x="6998982" y="2677458"/>
            <a:ext cx="440504" cy="302549"/>
          </a:xfrm>
          <a:prstGeom prst="straightConnector1">
            <a:avLst/>
          </a:prstGeom>
          <a:ln w="3810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Slide Number Placeholder 18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5</a:t>
            </a:fld>
            <a:endParaRPr lang="en-US"/>
          </a:p>
        </p:txBody>
      </p:sp>
      <p:cxnSp>
        <p:nvCxnSpPr>
          <p:cNvPr id="190" name="Straight Arrow Connector 189"/>
          <p:cNvCxnSpPr>
            <a:stCxn id="70" idx="0"/>
            <a:endCxn id="65" idx="4"/>
          </p:cNvCxnSpPr>
          <p:nvPr/>
        </p:nvCxnSpPr>
        <p:spPr>
          <a:xfrm flipV="1">
            <a:off x="5577842" y="2527277"/>
            <a:ext cx="0" cy="3431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Arrow Connector 194"/>
          <p:cNvCxnSpPr>
            <a:stCxn id="69" idx="7"/>
            <a:endCxn id="65" idx="3"/>
          </p:cNvCxnSpPr>
          <p:nvPr/>
        </p:nvCxnSpPr>
        <p:spPr>
          <a:xfrm flipV="1">
            <a:off x="4413538" y="2420148"/>
            <a:ext cx="905673" cy="18937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19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161" grpId="0" animBg="1"/>
      <p:bldP spid="162" grpId="0"/>
      <p:bldP spid="165" grpId="0" animBg="1"/>
      <p:bldP spid="168" grpId="0" animBg="1"/>
      <p:bldP spid="169" grpId="0"/>
      <p:bldP spid="170" grpId="0"/>
      <p:bldP spid="175" grpId="0" animBg="1"/>
      <p:bldP spid="183" grpId="0" animBg="1"/>
      <p:bldP spid="1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Module-level </a:t>
            </a:r>
            <a:r>
              <a:rPr lang="en-US" dirty="0" smtClean="0"/>
              <a:t>RTS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1058780" y="179575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C1</a:t>
            </a:r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2587597" y="311361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C2</a:t>
            </a:r>
            <a:endParaRPr lang="en-US" dirty="0"/>
          </a:p>
        </p:txBody>
      </p:sp>
      <p:sp>
        <p:nvSpPr>
          <p:cNvPr id="64" name="Oval 63"/>
          <p:cNvSpPr/>
          <p:nvPr/>
        </p:nvSpPr>
        <p:spPr>
          <a:xfrm>
            <a:off x="3789151" y="3123242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C3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6375135" y="179575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C5</a:t>
            </a:r>
            <a:endParaRPr lang="en-US" dirty="0"/>
          </a:p>
        </p:txBody>
      </p:sp>
      <p:sp>
        <p:nvSpPr>
          <p:cNvPr id="67" name="Oval 66"/>
          <p:cNvSpPr/>
          <p:nvPr/>
        </p:nvSpPr>
        <p:spPr>
          <a:xfrm>
            <a:off x="1058780" y="2870426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68" name="Oval 67"/>
          <p:cNvSpPr/>
          <p:nvPr/>
        </p:nvSpPr>
        <p:spPr>
          <a:xfrm>
            <a:off x="2587597" y="4206734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T2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3789151" y="4206734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T3</a:t>
            </a:r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5212082" y="2870426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T4</a:t>
            </a:r>
            <a:endParaRPr lang="en-US" dirty="0"/>
          </a:p>
        </p:txBody>
      </p:sp>
      <p:sp>
        <p:nvSpPr>
          <p:cNvPr id="71" name="Oval 70"/>
          <p:cNvSpPr/>
          <p:nvPr/>
        </p:nvSpPr>
        <p:spPr>
          <a:xfrm>
            <a:off x="6387971" y="2865465"/>
            <a:ext cx="731520" cy="73152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T5</a:t>
            </a:r>
            <a:endParaRPr lang="en-US" dirty="0"/>
          </a:p>
        </p:txBody>
      </p:sp>
      <p:sp>
        <p:nvSpPr>
          <p:cNvPr id="159" name="TextBox 158"/>
          <p:cNvSpPr txBox="1"/>
          <p:nvPr/>
        </p:nvSpPr>
        <p:spPr>
          <a:xfrm>
            <a:off x="0" y="4935854"/>
            <a:ext cx="87349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Industry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Facebook Buck, Google </a:t>
            </a:r>
            <a:r>
              <a:rPr lang="en-US" sz="2400" dirty="0" err="1" smtClean="0"/>
              <a:t>Bazel</a:t>
            </a:r>
            <a:r>
              <a:rPr lang="en-US" sz="2400" dirty="0" smtClean="0"/>
              <a:t>, Microsoft </a:t>
            </a:r>
            <a:r>
              <a:rPr lang="en-US" sz="2400" dirty="0" err="1" smtClean="0"/>
              <a:t>CloudBuild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Coarse-grained selection (all tests in a module)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Faster analysis than class-level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Cannot miss to select affected tests (otherwise would not build)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514" y="1356153"/>
            <a:ext cx="1097280" cy="265152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446703" y="2743197"/>
            <a:ext cx="2224760" cy="2550695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042034" y="1356153"/>
            <a:ext cx="3388168" cy="265152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7305575" y="1896969"/>
            <a:ext cx="914400" cy="9144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Conf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7305575" y="1896969"/>
            <a:ext cx="914400" cy="914400"/>
          </a:xfrm>
          <a:prstGeom prst="ellipse">
            <a:avLst/>
          </a:prstGeom>
          <a:noFill/>
          <a:ln w="146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095347" y="1476090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Changed</a:t>
            </a:r>
          </a:p>
        </p:txBody>
      </p:sp>
      <p:sp>
        <p:nvSpPr>
          <p:cNvPr id="37" name="TextBox 36"/>
          <p:cNvSpPr txBox="1"/>
          <p:nvPr/>
        </p:nvSpPr>
        <p:spPr>
          <a:xfrm flipH="1">
            <a:off x="1058780" y="929388"/>
            <a:ext cx="72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M1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 flipH="1">
            <a:off x="3195296" y="2304114"/>
            <a:ext cx="72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M2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 flipH="1">
            <a:off x="6367774" y="931995"/>
            <a:ext cx="72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M3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5212082" y="1795757"/>
            <a:ext cx="731520" cy="731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C4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5211185" y="1795757"/>
            <a:ext cx="731520" cy="731520"/>
          </a:xfrm>
          <a:prstGeom prst="ellipse">
            <a:avLst/>
          </a:prstGeom>
          <a:noFill/>
          <a:ln w="146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4909517" y="1356153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Changed</a:t>
            </a:r>
          </a:p>
        </p:txBody>
      </p:sp>
      <p:cxnSp>
        <p:nvCxnSpPr>
          <p:cNvPr id="10" name="Straight Arrow Connector 9"/>
          <p:cNvCxnSpPr>
            <a:stCxn id="23" idx="1"/>
            <a:endCxn id="22" idx="3"/>
          </p:cNvCxnSpPr>
          <p:nvPr/>
        </p:nvCxnSpPr>
        <p:spPr>
          <a:xfrm flipH="1" flipV="1">
            <a:off x="1996794" y="2681914"/>
            <a:ext cx="449909" cy="13366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039510" y="1363488"/>
            <a:ext cx="3388168" cy="26515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442423" y="2739662"/>
            <a:ext cx="2224760" cy="25506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5211185" y="2870426"/>
            <a:ext cx="731520" cy="7315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3789147" y="4206734"/>
            <a:ext cx="731520" cy="7315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3487479" y="4938254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Run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09517" y="3601946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Run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2601331" y="4212747"/>
            <a:ext cx="731520" cy="7315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285929" y="4940691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Run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6387971" y="2865464"/>
            <a:ext cx="731520" cy="7315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6075222" y="3596328"/>
            <a:ext cx="1334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Run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6</a:t>
            </a:fld>
            <a:endParaRPr lang="en-US"/>
          </a:p>
        </p:txBody>
      </p:sp>
      <p:cxnSp>
        <p:nvCxnSpPr>
          <p:cNvPr id="45" name="Straight Arrow Connector 44"/>
          <p:cNvCxnSpPr>
            <a:stCxn id="23" idx="3"/>
            <a:endCxn id="24" idx="1"/>
          </p:cNvCxnSpPr>
          <p:nvPr/>
        </p:nvCxnSpPr>
        <p:spPr>
          <a:xfrm flipV="1">
            <a:off x="4671463" y="2681914"/>
            <a:ext cx="370571" cy="13366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23" idx="3"/>
            <a:endCxn id="24" idx="1"/>
          </p:cNvCxnSpPr>
          <p:nvPr/>
        </p:nvCxnSpPr>
        <p:spPr>
          <a:xfrm flipV="1">
            <a:off x="4671463" y="2681914"/>
            <a:ext cx="370571" cy="13366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98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22" grpId="0" animBg="1"/>
      <p:bldP spid="23" grpId="0" animBg="1"/>
      <p:bldP spid="24" grpId="0" animBg="1"/>
      <p:bldP spid="29" grpId="0" animBg="1"/>
      <p:bldP spid="31" grpId="0" animBg="1"/>
      <p:bldP spid="32" grpId="0"/>
      <p:bldP spid="37" grpId="0"/>
      <p:bldP spid="38" grpId="0"/>
      <p:bldP spid="39" grpId="0"/>
      <p:bldP spid="40" grpId="0" animBg="1"/>
      <p:bldP spid="41" grpId="0" animBg="1"/>
      <p:bldP spid="42" grpId="0"/>
      <p:bldP spid="48" grpId="0" animBg="1"/>
      <p:bldP spid="52" grpId="0" animBg="1"/>
      <p:bldP spid="53" grpId="0" animBg="1"/>
      <p:bldP spid="54" grpId="0" animBg="1"/>
      <p:bldP spid="55" grpId="0"/>
      <p:bldP spid="56" grpId="0"/>
      <p:bldP spid="57" grpId="0" animBg="1"/>
      <p:bldP spid="58" grpId="0"/>
      <p:bldP spid="59" grpId="0" animBg="1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-1" y="2129883"/>
            <a:ext cx="9144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How do Class- and Module-level RTS compare</a:t>
            </a:r>
          </a:p>
          <a:p>
            <a:pPr algn="ctr"/>
            <a:r>
              <a:rPr lang="en-US" sz="3600" dirty="0" smtClean="0"/>
              <a:t>in a cloud-based CI setting?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-2" y="4122234"/>
            <a:ext cx="914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How do we improve them?</a:t>
            </a: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0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Evaluate class- and module-level RTS in a cloud-based continuous integration system</a:t>
            </a:r>
          </a:p>
          <a:p>
            <a:r>
              <a:rPr lang="en-US" dirty="0" smtClean="0"/>
              <a:t>Run representative tools</a:t>
            </a:r>
          </a:p>
          <a:p>
            <a:pPr lvl="1"/>
            <a:r>
              <a:rPr lang="en-US" dirty="0" err="1" smtClean="0"/>
              <a:t>Ekstazi</a:t>
            </a:r>
            <a:r>
              <a:rPr lang="en-US" dirty="0" smtClean="0"/>
              <a:t>: class-level RTS</a:t>
            </a:r>
          </a:p>
          <a:p>
            <a:pPr lvl="1"/>
            <a:r>
              <a:rPr lang="en-US" dirty="0" smtClean="0"/>
              <a:t>GIB: module-level RTS</a:t>
            </a:r>
          </a:p>
          <a:p>
            <a:pPr lvl="1"/>
            <a:r>
              <a:rPr lang="en-US" dirty="0" err="1" smtClean="0"/>
              <a:t>GIBstazi</a:t>
            </a:r>
            <a:r>
              <a:rPr lang="en-US" dirty="0" smtClean="0"/>
              <a:t>: hybrid class/module-level RTS</a:t>
            </a:r>
          </a:p>
          <a:p>
            <a:r>
              <a:rPr lang="en-US" dirty="0" smtClean="0"/>
              <a:t>Measure tests selected and time to run</a:t>
            </a:r>
          </a:p>
          <a:p>
            <a:r>
              <a:rPr lang="en-US" dirty="0" smtClean="0"/>
              <a:t>Measure failing tests selected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4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Travis CI: Cloud-based CI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Builds and tests code after every change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Cloud-based: builds from scratch on fresh VM</a:t>
            </a:r>
            <a:endParaRPr lang="en-US" dirty="0"/>
          </a:p>
          <a:p>
            <a:r>
              <a:rPr lang="en-US" dirty="0" smtClean="0"/>
              <a:t>Configured to build individual </a:t>
            </a:r>
            <a:r>
              <a:rPr lang="en-US" i="1" dirty="0" smtClean="0"/>
              <a:t>jobs</a:t>
            </a:r>
            <a:endParaRPr lang="en-US" dirty="0" smtClean="0"/>
          </a:p>
          <a:p>
            <a:pPr lvl="1"/>
            <a:r>
              <a:rPr lang="en-US" dirty="0" smtClean="0"/>
              <a:t>Failing/</a:t>
            </a:r>
            <a:r>
              <a:rPr lang="en-US" dirty="0" err="1" smtClean="0"/>
              <a:t>erroring</a:t>
            </a:r>
            <a:r>
              <a:rPr lang="en-US" dirty="0" smtClean="0"/>
              <a:t> job can block push/merge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9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779197-29AE-48E2-8800-A20C16B7F59F}"/>
              </a:ext>
            </a:extLst>
          </p:cNvPr>
          <p:cNvSpPr txBox="1"/>
          <p:nvPr/>
        </p:nvSpPr>
        <p:spPr>
          <a:xfrm>
            <a:off x="1403098" y="2431781"/>
            <a:ext cx="216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Fetch Changes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1261E8-03D7-4304-BDA3-898056814F4F}"/>
              </a:ext>
            </a:extLst>
          </p:cNvPr>
          <p:cNvCxnSpPr>
            <a:cxnSpLocks/>
          </p:cNvCxnSpPr>
          <p:nvPr/>
        </p:nvCxnSpPr>
        <p:spPr>
          <a:xfrm>
            <a:off x="837009" y="2893446"/>
            <a:ext cx="2276764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52" descr="Computer">
            <a:extLst>
              <a:ext uri="{FF2B5EF4-FFF2-40B4-BE49-F238E27FC236}">
                <a16:creationId xmlns:a16="http://schemas.microsoft.com/office/drawing/2014/main" id="{191B0B49-06D4-45CC-9201-85E615A79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695153" y="2290250"/>
            <a:ext cx="1629768" cy="1812254"/>
          </a:xfrm>
          <a:prstGeom prst="rect">
            <a:avLst/>
          </a:prstGeom>
        </p:spPr>
      </p:pic>
      <p:sp>
        <p:nvSpPr>
          <p:cNvPr id="18" name="Cloud 17"/>
          <p:cNvSpPr/>
          <p:nvPr/>
        </p:nvSpPr>
        <p:spPr>
          <a:xfrm>
            <a:off x="3128073" y="2156102"/>
            <a:ext cx="2801537" cy="2170875"/>
          </a:xfrm>
          <a:prstGeom prst="clou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943910" y="2638011"/>
            <a:ext cx="9220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Build</a:t>
            </a:r>
          </a:p>
          <a:p>
            <a:r>
              <a:rPr lang="en-US" sz="2800" dirty="0" smtClean="0"/>
              <a:t>Test</a:t>
            </a:r>
            <a:endParaRPr lang="en-US" sz="2800" dirty="0"/>
          </a:p>
        </p:txBody>
      </p:sp>
      <p:cxnSp>
        <p:nvCxnSpPr>
          <p:cNvPr id="20" name="Connector: Elbow 12">
            <a:extLst>
              <a:ext uri="{FF2B5EF4-FFF2-40B4-BE49-F238E27FC236}">
                <a16:creationId xmlns:a16="http://schemas.microsoft.com/office/drawing/2014/main" id="{FE02A471-897B-4615-B289-0E71BEF03DB0}"/>
              </a:ext>
            </a:extLst>
          </p:cNvPr>
          <p:cNvCxnSpPr/>
          <p:nvPr/>
        </p:nvCxnSpPr>
        <p:spPr>
          <a:xfrm rot="10800000" flipV="1">
            <a:off x="1464010" y="3169125"/>
            <a:ext cx="1555317" cy="1483592"/>
          </a:xfrm>
          <a:prstGeom prst="bentConnector2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4946C7-542A-4D3B-A649-E56026C23B0F}"/>
              </a:ext>
            </a:extLst>
          </p:cNvPr>
          <p:cNvSpPr txBox="1"/>
          <p:nvPr/>
        </p:nvSpPr>
        <p:spPr>
          <a:xfrm>
            <a:off x="1946272" y="3282155"/>
            <a:ext cx="128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Pass/Fail</a:t>
            </a:r>
          </a:p>
        </p:txBody>
      </p:sp>
    </p:spTree>
    <p:extLst>
      <p:ext uri="{BB962C8B-B14F-4D97-AF65-F5344CB8AC3E}">
        <p14:creationId xmlns:p14="http://schemas.microsoft.com/office/powerpoint/2010/main" val="264474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animBg="1"/>
      <p:bldP spid="19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Travis </a:t>
            </a:r>
            <a:r>
              <a:rPr lang="en-US" dirty="0" smtClean="0"/>
              <a:t>CI Job Phases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96527" y="3268101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36619" y="3186403"/>
            <a:ext cx="41364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install -</a:t>
            </a:r>
            <a:r>
              <a:rPr lang="en-US" dirty="0" err="1">
                <a:latin typeface="Consolas" panose="020B0609020204030204" pitchFamily="49" charset="0"/>
              </a:rPr>
              <a:t>DskipTests</a:t>
            </a:r>
            <a:r>
              <a:rPr lang="en-US" dirty="0">
                <a:latin typeface="Consolas" panose="020B0609020204030204" pitchFamily="49" charset="0"/>
              </a:rPr>
              <a:t>=true</a:t>
            </a:r>
          </a:p>
          <a:p>
            <a:pPr algn="ctr"/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Dmaven.javadoc.skip</a:t>
            </a:r>
            <a:r>
              <a:rPr lang="en-US" dirty="0">
                <a:latin typeface="Consolas" panose="020B0609020204030204" pitchFamily="49" charset="0"/>
              </a:rPr>
              <a:t>=true -B -V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96527" y="487509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53463" y="4932786"/>
            <a:ext cx="41364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test -B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0438" y="1124738"/>
            <a:ext cx="71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Job</a:t>
            </a:r>
            <a:endParaRPr lang="en-US" sz="2400" b="1" dirty="0"/>
          </a:p>
        </p:txBody>
      </p:sp>
      <p:cxnSp>
        <p:nvCxnSpPr>
          <p:cNvPr id="13" name="Straight Arrow Connector 12"/>
          <p:cNvCxnSpPr>
            <a:stCxn id="6" idx="2"/>
            <a:endCxn id="9" idx="0"/>
          </p:cNvCxnSpPr>
          <p:nvPr/>
        </p:nvCxnSpPr>
        <p:spPr>
          <a:xfrm>
            <a:off x="3266573" y="3761395"/>
            <a:ext cx="0" cy="111370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1"/>
            <a:endCxn id="17" idx="1"/>
          </p:cNvCxnSpPr>
          <p:nvPr/>
        </p:nvCxnSpPr>
        <p:spPr>
          <a:xfrm flipH="1" flipV="1">
            <a:off x="1476275" y="3512795"/>
            <a:ext cx="820252" cy="19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flipH="1">
            <a:off x="780849" y="3328129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Error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>
            <a:stCxn id="9" idx="2"/>
            <a:endCxn id="24" idx="0"/>
          </p:cNvCxnSpPr>
          <p:nvPr/>
        </p:nvCxnSpPr>
        <p:spPr>
          <a:xfrm>
            <a:off x="3266573" y="5368391"/>
            <a:ext cx="0" cy="112027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flipH="1">
            <a:off x="2918860" y="6488668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Pass</a:t>
            </a:r>
            <a:endParaRPr lang="en-US" b="1" dirty="0">
              <a:solidFill>
                <a:schemeClr val="accent6"/>
              </a:solidFill>
            </a:endParaRPr>
          </a:p>
        </p:txBody>
      </p:sp>
      <p:cxnSp>
        <p:nvCxnSpPr>
          <p:cNvPr id="26" name="Straight Arrow Connector 25"/>
          <p:cNvCxnSpPr>
            <a:stCxn id="9" idx="1"/>
            <a:endCxn id="27" idx="1"/>
          </p:cNvCxnSpPr>
          <p:nvPr/>
        </p:nvCxnSpPr>
        <p:spPr>
          <a:xfrm flipH="1" flipV="1">
            <a:off x="1476275" y="5117452"/>
            <a:ext cx="820252" cy="42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flipH="1">
            <a:off x="780849" y="4932786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Fail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296527" y="4072412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96527" y="246183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296527" y="1663444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Install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296527" y="5677782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b</a:t>
            </a:r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efore_cache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/>
          <p:cNvCxnSpPr>
            <a:stCxn id="34" idx="1"/>
            <a:endCxn id="59" idx="1"/>
          </p:cNvCxnSpPr>
          <p:nvPr/>
        </p:nvCxnSpPr>
        <p:spPr>
          <a:xfrm flipH="1">
            <a:off x="1476275" y="2708484"/>
            <a:ext cx="820252" cy="198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 flipH="1">
            <a:off x="780849" y="2525801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Error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8" name="Straight Arrow Connector 127"/>
          <p:cNvCxnSpPr>
            <a:stCxn id="34" idx="2"/>
            <a:endCxn id="6" idx="0"/>
          </p:cNvCxnSpPr>
          <p:nvPr/>
        </p:nvCxnSpPr>
        <p:spPr>
          <a:xfrm>
            <a:off x="3266573" y="2955131"/>
            <a:ext cx="0" cy="31297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6" idx="2"/>
            <a:endCxn id="33" idx="0"/>
          </p:cNvCxnSpPr>
          <p:nvPr/>
        </p:nvCxnSpPr>
        <p:spPr>
          <a:xfrm>
            <a:off x="3266573" y="3761395"/>
            <a:ext cx="0" cy="31101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33" idx="2"/>
            <a:endCxn id="9" idx="0"/>
          </p:cNvCxnSpPr>
          <p:nvPr/>
        </p:nvCxnSpPr>
        <p:spPr>
          <a:xfrm>
            <a:off x="3266573" y="4565706"/>
            <a:ext cx="0" cy="30939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33" idx="1"/>
            <a:endCxn id="140" idx="1"/>
          </p:cNvCxnSpPr>
          <p:nvPr/>
        </p:nvCxnSpPr>
        <p:spPr>
          <a:xfrm flipH="1" flipV="1">
            <a:off x="1463791" y="4318246"/>
            <a:ext cx="832736" cy="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 flipH="1">
            <a:off x="768365" y="4133580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Error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44" name="Straight Arrow Connector 143"/>
          <p:cNvCxnSpPr>
            <a:stCxn id="51" idx="2"/>
            <a:endCxn id="34" idx="0"/>
          </p:cNvCxnSpPr>
          <p:nvPr/>
        </p:nvCxnSpPr>
        <p:spPr>
          <a:xfrm>
            <a:off x="3266573" y="2156738"/>
            <a:ext cx="0" cy="305099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stCxn id="9" idx="2"/>
            <a:endCxn id="52" idx="0"/>
          </p:cNvCxnSpPr>
          <p:nvPr/>
        </p:nvCxnSpPr>
        <p:spPr>
          <a:xfrm>
            <a:off x="3266573" y="5368391"/>
            <a:ext cx="0" cy="30939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>
            <a:stCxn id="52" idx="2"/>
            <a:endCxn id="24" idx="0"/>
          </p:cNvCxnSpPr>
          <p:nvPr/>
        </p:nvCxnSpPr>
        <p:spPr>
          <a:xfrm>
            <a:off x="3266573" y="6171076"/>
            <a:ext cx="0" cy="31759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>
            <a:stCxn id="51" idx="1"/>
            <a:endCxn id="162" idx="1"/>
          </p:cNvCxnSpPr>
          <p:nvPr/>
        </p:nvCxnSpPr>
        <p:spPr>
          <a:xfrm flipH="1" flipV="1">
            <a:off x="1463791" y="1905626"/>
            <a:ext cx="832736" cy="44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 flipH="1">
            <a:off x="768365" y="1720960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Error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5" name="Straight Arrow Connector 164"/>
          <p:cNvCxnSpPr>
            <a:stCxn id="52" idx="1"/>
            <a:endCxn id="166" idx="1"/>
          </p:cNvCxnSpPr>
          <p:nvPr/>
        </p:nvCxnSpPr>
        <p:spPr>
          <a:xfrm flipH="1">
            <a:off x="1476275" y="5924429"/>
            <a:ext cx="820252" cy="9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 flipH="1">
            <a:off x="780849" y="5740749"/>
            <a:ext cx="69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Error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5" name="Slide Number Placeholder 17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10</a:t>
            </a:fld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5938787" y="3118585"/>
            <a:ext cx="2271562" cy="49852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/>
          <p:cNvSpPr txBox="1"/>
          <p:nvPr/>
        </p:nvSpPr>
        <p:spPr>
          <a:xfrm flipH="1">
            <a:off x="4652907" y="3813190"/>
            <a:ext cx="4029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Download all third-party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Compile code</a:t>
            </a:r>
            <a:endParaRPr lang="en-US" sz="2000" dirty="0"/>
          </a:p>
        </p:txBody>
      </p:sp>
      <p:sp>
        <p:nvSpPr>
          <p:cNvPr id="178" name="TextBox 177"/>
          <p:cNvSpPr txBox="1"/>
          <p:nvPr/>
        </p:nvSpPr>
        <p:spPr>
          <a:xfrm>
            <a:off x="3749416" y="1067251"/>
            <a:ext cx="5356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Need to incorporate RTS tools into this workflow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497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/>
      <p:bldP spid="17" grpId="0"/>
      <p:bldP spid="24" grpId="0"/>
      <p:bldP spid="27" grpId="0"/>
      <p:bldP spid="33" grpId="0" animBg="1"/>
      <p:bldP spid="34" grpId="0" animBg="1"/>
      <p:bldP spid="51" grpId="0" animBg="1"/>
      <p:bldP spid="52" grpId="0" animBg="1"/>
      <p:bldP spid="59" grpId="0"/>
      <p:bldP spid="140" grpId="0"/>
      <p:bldP spid="162" grpId="0"/>
      <p:bldP spid="166" grpId="0"/>
      <p:bldP spid="176" grpId="0" animBg="1"/>
      <p:bldP spid="176" grpId="1" animBg="1"/>
      <p:bldP spid="177" grpId="0"/>
      <p:bldP spid="177" grpId="1"/>
      <p:bldP spid="1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RTS on Travis 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Modify project to include RTS tool</a:t>
            </a:r>
          </a:p>
          <a:p>
            <a:r>
              <a:rPr lang="en-US" dirty="0" smtClean="0"/>
              <a:t>Record number of tests run</a:t>
            </a:r>
          </a:p>
          <a:p>
            <a:r>
              <a:rPr lang="en-US" dirty="0" smtClean="0"/>
              <a:t>Measure time to run job using 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96527" y="487509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20101" y="3911216"/>
            <a:ext cx="2492943" cy="26276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10437" y="3449550"/>
            <a:ext cx="71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Job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680450" y="3087737"/>
            <a:ext cx="1148071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dirty="0" smtClean="0"/>
              <a:t>}</a:t>
            </a:r>
            <a:endParaRPr lang="en-US" sz="23900" dirty="0"/>
          </a:p>
        </p:txBody>
      </p:sp>
      <p:sp>
        <p:nvSpPr>
          <p:cNvPr id="9" name="TextBox 8"/>
          <p:cNvSpPr txBox="1"/>
          <p:nvPr/>
        </p:nvSpPr>
        <p:spPr>
          <a:xfrm>
            <a:off x="4513044" y="4706245"/>
            <a:ext cx="378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/>
              <a:t>}</a:t>
            </a:r>
            <a:endParaRPr lang="en-US" sz="4800" dirty="0"/>
          </a:p>
        </p:txBody>
      </p:sp>
      <p:sp>
        <p:nvSpPr>
          <p:cNvPr id="10" name="TextBox 9"/>
          <p:cNvSpPr txBox="1"/>
          <p:nvPr/>
        </p:nvSpPr>
        <p:spPr>
          <a:xfrm>
            <a:off x="4789297" y="4921688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Test time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9077" y="4921688"/>
            <a:ext cx="1224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Total time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7718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Class-level </a:t>
            </a:r>
            <a:r>
              <a:rPr lang="en-US" dirty="0" smtClean="0"/>
              <a:t>RTS</a:t>
            </a:r>
            <a:r>
              <a:rPr lang="en-US" baseline="30000" dirty="0" smtClean="0"/>
              <a:t>1</a:t>
            </a:r>
            <a:endParaRPr lang="en-US" dirty="0"/>
          </a:p>
          <a:p>
            <a:pPr lvl="1"/>
            <a:r>
              <a:rPr lang="en-US" dirty="0"/>
              <a:t>Run tests on instrumented code to track dependencies between tests and </a:t>
            </a:r>
            <a:r>
              <a:rPr lang="en-US" dirty="0" smtClean="0"/>
              <a:t>classes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Save metadata in local </a:t>
            </a:r>
            <a:r>
              <a:rPr lang="en-US" sz="2800" dirty="0" smtClean="0">
                <a:latin typeface="Consolas" panose="020B0609020204030204" pitchFamily="49" charset="0"/>
              </a:rPr>
              <a:t>.</a:t>
            </a:r>
            <a:r>
              <a:rPr lang="en-US" sz="2800" dirty="0" err="1" smtClean="0">
                <a:latin typeface="Consolas" panose="020B0609020204030204" pitchFamily="49" charset="0"/>
              </a:rPr>
              <a:t>ekstazi</a:t>
            </a:r>
            <a:r>
              <a:rPr lang="en-US" sz="2800" dirty="0" smtClean="0">
                <a:latin typeface="Consolas" panose="020B0609020204030204" pitchFamily="49" charset="0"/>
              </a:rPr>
              <a:t>/</a:t>
            </a:r>
            <a:r>
              <a:rPr lang="en-US" dirty="0" smtClean="0"/>
              <a:t> directories</a:t>
            </a:r>
            <a:endParaRPr lang="en-US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16" y="2975902"/>
            <a:ext cx="5123845" cy="25880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Ekstazi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6488667"/>
            <a:ext cx="587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 smtClean="0"/>
              <a:t>1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://www.ekstazi.org</a:t>
            </a:r>
            <a:endParaRPr lang="en-US" dirty="0"/>
          </a:p>
        </p:txBody>
      </p:sp>
      <p:cxnSp>
        <p:nvCxnSpPr>
          <p:cNvPr id="29" name="Straight Arrow Connector 28"/>
          <p:cNvCxnSpPr>
            <a:stCxn id="33" idx="0"/>
          </p:cNvCxnSpPr>
          <p:nvPr/>
        </p:nvCxnSpPr>
        <p:spPr>
          <a:xfrm flipH="1" flipV="1">
            <a:off x="4225492" y="4504623"/>
            <a:ext cx="1876624" cy="819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34815" y="5323971"/>
            <a:ext cx="37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Dependencies computed dynamically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/>
          <p:cNvCxnSpPr>
            <a:stCxn id="38" idx="3"/>
          </p:cNvCxnSpPr>
          <p:nvPr/>
        </p:nvCxnSpPr>
        <p:spPr>
          <a:xfrm flipV="1">
            <a:off x="4312118" y="3339931"/>
            <a:ext cx="259882" cy="2279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93736" y="3106217"/>
            <a:ext cx="2318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Compute changes from compiled classes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(checksum of classes)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8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Ekstazi</a:t>
            </a:r>
            <a:r>
              <a:rPr lang="en-US" dirty="0" smtClean="0"/>
              <a:t> on Travis 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cloud, need to preserve </a:t>
            </a:r>
            <a:r>
              <a:rPr lang="en-US" sz="3200" dirty="0" smtClean="0">
                <a:latin typeface="Consolas" panose="020B0609020204030204" pitchFamily="49" charset="0"/>
              </a:rPr>
              <a:t>.</a:t>
            </a:r>
            <a:r>
              <a:rPr lang="en-US" sz="3200" dirty="0" err="1" smtClean="0">
                <a:latin typeface="Consolas" panose="020B0609020204030204" pitchFamily="49" charset="0"/>
              </a:rPr>
              <a:t>ekstazi</a:t>
            </a:r>
            <a:r>
              <a:rPr lang="en-US" sz="3200" dirty="0" smtClean="0">
                <a:latin typeface="Consolas" panose="020B0609020204030204" pitchFamily="49" charset="0"/>
              </a:rPr>
              <a:t>/ </a:t>
            </a:r>
            <a:r>
              <a:rPr lang="en-US" dirty="0" smtClean="0"/>
              <a:t>directories between all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6709" y="4141315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26709" y="5170061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26709" y="4655688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6709" y="3625196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26709" y="310907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Install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26709" y="569178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b</a:t>
            </a:r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efore_cache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66801" y="4717669"/>
            <a:ext cx="15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on </a:t>
            </a:r>
            <a:r>
              <a:rPr lang="en-US" dirty="0" err="1" smtClean="0"/>
              <a:t>Ekstazi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266801" y="3687736"/>
            <a:ext cx="15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off </a:t>
            </a:r>
            <a:r>
              <a:rPr lang="en-US" dirty="0" err="1" smtClean="0"/>
              <a:t>Ekstazi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266800" y="5753768"/>
            <a:ext cx="318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 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  <a:r>
              <a:rPr lang="en-US" dirty="0" err="1" smtClean="0">
                <a:latin typeface="Consolas" panose="020B0609020204030204" pitchFamily="49" charset="0"/>
              </a:rPr>
              <a:t>ekstazi</a:t>
            </a:r>
            <a:r>
              <a:rPr lang="en-US" dirty="0" smtClean="0">
                <a:latin typeface="Consolas" panose="020B0609020204030204" pitchFamily="49" charset="0"/>
              </a:rPr>
              <a:t>/</a:t>
            </a:r>
            <a:r>
              <a:rPr lang="en-US" dirty="0" smtClean="0"/>
              <a:t> directories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266799" y="3171058"/>
            <a:ext cx="318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Copy in 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  <a:r>
              <a:rPr lang="en-US" dirty="0" err="1" smtClean="0">
                <a:latin typeface="Consolas" panose="020B0609020204030204" pitchFamily="49" charset="0"/>
              </a:rPr>
              <a:t>ekstazi</a:t>
            </a:r>
            <a:r>
              <a:rPr lang="en-US" dirty="0" smtClean="0">
                <a:latin typeface="Consolas" panose="020B0609020204030204" pitchFamily="49" charset="0"/>
              </a:rPr>
              <a:t>/</a:t>
            </a:r>
            <a:r>
              <a:rPr lang="en-US" dirty="0" smtClean="0"/>
              <a:t> directories</a:t>
            </a:r>
            <a:endParaRPr lang="en-US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7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21" grpId="0"/>
      <p:bldP spid="2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Module-level RTS</a:t>
            </a:r>
            <a:r>
              <a:rPr lang="en-US" baseline="30000" dirty="0" smtClean="0"/>
              <a:t>1</a:t>
            </a:r>
            <a:endParaRPr lang="en-US" dirty="0" smtClean="0"/>
          </a:p>
          <a:p>
            <a:pPr lvl="1"/>
            <a:r>
              <a:rPr lang="en-US" dirty="0" smtClean="0"/>
              <a:t>Performs incremental module-based Maven builds, but can be used for RTS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801" y="3228201"/>
            <a:ext cx="4568297" cy="26872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Gitflow</a:t>
            </a:r>
            <a:r>
              <a:rPr lang="en-US" dirty="0" smtClean="0"/>
              <a:t> Incremental Builder (GIB)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14</a:t>
            </a:fld>
            <a:endParaRPr lang="en-US"/>
          </a:p>
        </p:txBody>
      </p:sp>
      <p:cxnSp>
        <p:nvCxnSpPr>
          <p:cNvPr id="17" name="Straight Arrow Connector 16"/>
          <p:cNvCxnSpPr>
            <a:stCxn id="18" idx="0"/>
          </p:cNvCxnSpPr>
          <p:nvPr/>
        </p:nvCxnSpPr>
        <p:spPr>
          <a:xfrm flipH="1" flipV="1">
            <a:off x="4398745" y="4908884"/>
            <a:ext cx="1693897" cy="11430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34089" y="6051958"/>
            <a:ext cx="571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Specified by developers in 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pom.xml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build configuration file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6488667"/>
            <a:ext cx="587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 smtClean="0"/>
              <a:t>1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github.com/</a:t>
            </a:r>
            <a:r>
              <a:rPr lang="en-US" dirty="0" err="1" smtClean="0">
                <a:hlinkClick r:id="rId3"/>
              </a:rPr>
              <a:t>vackosar</a:t>
            </a:r>
            <a:r>
              <a:rPr lang="en-US" dirty="0" smtClean="0">
                <a:hlinkClick r:id="rId3"/>
              </a:rPr>
              <a:t>/</a:t>
            </a:r>
            <a:r>
              <a:rPr lang="en-US" dirty="0" err="1" smtClean="0">
                <a:hlinkClick r:id="rId3"/>
              </a:rPr>
              <a:t>gitflow</a:t>
            </a:r>
            <a:r>
              <a:rPr lang="en-US" dirty="0" smtClean="0">
                <a:hlinkClick r:id="rId3"/>
              </a:rPr>
              <a:t>-incremental-builder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5111015" y="3228200"/>
            <a:ext cx="1801229" cy="6070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12244" y="2884512"/>
            <a:ext cx="2231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Compute changes using </a:t>
            </a:r>
            <a:r>
              <a:rPr lang="en-US" sz="16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git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diff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25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GIB</a:t>
            </a:r>
            <a:r>
              <a:rPr lang="en-US" dirty="0" smtClean="0"/>
              <a:t> on Travis CI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26709" y="4141315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26709" y="5170061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26709" y="4655688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6709" y="3625196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26709" y="310907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Install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26709" y="569178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b</a:t>
            </a:r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efore_cache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66801" y="4717669"/>
            <a:ext cx="15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on GIB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266801" y="3687736"/>
            <a:ext cx="15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off GIB</a:t>
            </a:r>
            <a:endParaRPr lang="en-US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4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Preliminary: Basic GIB Ineffective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Almost always selecting all tests</a:t>
            </a:r>
          </a:p>
          <a:p>
            <a:pPr lvl="1"/>
            <a:r>
              <a:rPr lang="en-US" dirty="0" smtClean="0"/>
              <a:t>Selected all modules in 65% of the commits</a:t>
            </a:r>
          </a:p>
          <a:p>
            <a:pPr lvl="1"/>
            <a:r>
              <a:rPr lang="en-US" dirty="0" smtClean="0"/>
              <a:t>Selected &gt;70% of all modules in all commits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Commits that only change documentation, e.g., README</a:t>
            </a:r>
          </a:p>
          <a:p>
            <a:r>
              <a:rPr lang="en-US" dirty="0" smtClean="0"/>
              <a:t>Commits that change top-level </a:t>
            </a:r>
            <a:r>
              <a:rPr lang="en-US" sz="3200" dirty="0" smtClean="0">
                <a:latin typeface="Consolas" panose="020B0609020204030204" pitchFamily="49" charset="0"/>
              </a:rPr>
              <a:t>pom.xml</a:t>
            </a:r>
            <a:endParaRPr lang="en-US" dirty="0" smtClean="0">
              <a:latin typeface="Consolas" panose="020B0609020204030204" pitchFamily="49" charset="0"/>
            </a:endParaRPr>
          </a:p>
          <a:p>
            <a:pPr lvl="1"/>
            <a:r>
              <a:rPr lang="en-US" dirty="0" smtClean="0"/>
              <a:t>But only changed authors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3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GIB (modified)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filters for changes to files to ignore</a:t>
            </a:r>
          </a:p>
          <a:p>
            <a:pPr lvl="1"/>
            <a:r>
              <a:rPr lang="en-US" dirty="0" smtClean="0"/>
              <a:t>README, *.txt, *.html, etc.</a:t>
            </a:r>
          </a:p>
          <a:p>
            <a:r>
              <a:rPr lang="en-US" dirty="0" smtClean="0"/>
              <a:t>Ignore </a:t>
            </a:r>
            <a:r>
              <a:rPr lang="en-US" sz="3200" dirty="0" smtClean="0">
                <a:latin typeface="Consolas" panose="020B0609020204030204" pitchFamily="49" charset="0"/>
              </a:rPr>
              <a:t>pom.xml</a:t>
            </a:r>
            <a:r>
              <a:rPr lang="en-US" dirty="0" smtClean="0"/>
              <a:t> change if no </a:t>
            </a:r>
            <a:r>
              <a:rPr lang="en-US" dirty="0" err="1" smtClean="0"/>
              <a:t>classpath</a:t>
            </a:r>
            <a:r>
              <a:rPr lang="en-US" dirty="0" smtClean="0"/>
              <a:t>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6709" y="4709212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26709" y="5737958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26709" y="5223585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6709" y="4193093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26709" y="3676974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Install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6709" y="6259684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b</a:t>
            </a:r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efore_cache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66801" y="5285566"/>
            <a:ext cx="15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on GIB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266801" y="4255633"/>
            <a:ext cx="158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off GIB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266800" y="6321665"/>
            <a:ext cx="3180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 </a:t>
            </a:r>
            <a:r>
              <a:rPr lang="en-US" sz="1600" dirty="0" err="1" smtClean="0">
                <a:latin typeface="Consolas" panose="020B0609020204030204" pitchFamily="49" charset="0"/>
              </a:rPr>
              <a:t>classpath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66799" y="3738955"/>
            <a:ext cx="318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Copy in </a:t>
            </a:r>
            <a:r>
              <a:rPr lang="en-US" sz="1600" dirty="0" err="1" smtClean="0">
                <a:latin typeface="Consolas" panose="020B0609020204030204" pitchFamily="49" charset="0"/>
              </a:rPr>
              <a:t>classpath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7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GIBstazi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Hybrid of </a:t>
            </a:r>
            <a:r>
              <a:rPr lang="en-US" dirty="0" err="1" smtClean="0"/>
              <a:t>Ekstazi</a:t>
            </a:r>
            <a:r>
              <a:rPr lang="en-US" dirty="0" smtClean="0"/>
              <a:t> and GIB</a:t>
            </a:r>
            <a:r>
              <a:rPr lang="en-US" baseline="30000" dirty="0" smtClean="0"/>
              <a:t>1</a:t>
            </a:r>
          </a:p>
          <a:p>
            <a:r>
              <a:rPr lang="en-US" dirty="0" smtClean="0"/>
              <a:t>Goal:</a:t>
            </a:r>
          </a:p>
          <a:p>
            <a:pPr lvl="1"/>
            <a:r>
              <a:rPr lang="en-US" dirty="0" smtClean="0"/>
              <a:t>Safer than </a:t>
            </a:r>
            <a:r>
              <a:rPr lang="en-US" dirty="0" err="1" smtClean="0"/>
              <a:t>Ekstazi</a:t>
            </a:r>
            <a:r>
              <a:rPr lang="en-US" dirty="0" smtClean="0"/>
              <a:t> w.r.t. non-code files</a:t>
            </a:r>
          </a:p>
          <a:p>
            <a:pPr lvl="1"/>
            <a:r>
              <a:rPr lang="en-US" dirty="0" smtClean="0"/>
              <a:t>More precise than GIB in tests selected</a:t>
            </a:r>
            <a:endParaRPr lang="en-US" dirty="0"/>
          </a:p>
          <a:p>
            <a:r>
              <a:rPr lang="en-US" dirty="0" smtClean="0"/>
              <a:t>Steps:</a:t>
            </a:r>
          </a:p>
          <a:p>
            <a:pPr lvl="1"/>
            <a:r>
              <a:rPr lang="en-US" dirty="0" smtClean="0"/>
              <a:t>Use GIB to determine affected modules</a:t>
            </a:r>
          </a:p>
          <a:p>
            <a:pPr lvl="1"/>
            <a:r>
              <a:rPr lang="en-US" dirty="0" smtClean="0"/>
              <a:t>Only run </a:t>
            </a:r>
            <a:r>
              <a:rPr lang="en-US" dirty="0" err="1" smtClean="0"/>
              <a:t>Ekstazi</a:t>
            </a:r>
            <a:r>
              <a:rPr lang="en-US" dirty="0" smtClean="0"/>
              <a:t> on affected modules</a:t>
            </a:r>
          </a:p>
          <a:p>
            <a:pPr lvl="1"/>
            <a:r>
              <a:rPr lang="en-US" dirty="0" smtClean="0"/>
              <a:t>If non-Java change, use regular GIB logic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6488667"/>
            <a:ext cx="5870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 smtClean="0"/>
              <a:t>1</a:t>
            </a:r>
            <a:r>
              <a:rPr lang="en-US" dirty="0" smtClean="0">
                <a:hlinkClick r:id="rId2"/>
              </a:rPr>
              <a:t>https://github.com/august782/</a:t>
            </a:r>
            <a:r>
              <a:rPr lang="en-US" dirty="0" err="1" smtClean="0">
                <a:hlinkClick r:id="rId2"/>
              </a:rPr>
              <a:t>gitflow</a:t>
            </a:r>
            <a:r>
              <a:rPr lang="en-US" dirty="0" smtClean="0">
                <a:hlinkClick r:id="rId2"/>
              </a:rPr>
              <a:t>-incremental-builder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36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GIBstazi</a:t>
            </a:r>
            <a:r>
              <a:rPr lang="en-US" dirty="0" smtClean="0"/>
              <a:t> on Travis CI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19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Same modifications as </a:t>
            </a:r>
            <a:r>
              <a:rPr lang="en-US" dirty="0" err="1" smtClean="0"/>
              <a:t>Ekstazi</a:t>
            </a:r>
            <a:r>
              <a:rPr lang="en-US" dirty="0" smtClean="0"/>
              <a:t> and GIB on Travis CI</a:t>
            </a:r>
            <a:endParaRPr lang="en-US" dirty="0" smtClean="0"/>
          </a:p>
        </p:txBody>
      </p:sp>
      <p:sp>
        <p:nvSpPr>
          <p:cNvPr id="6" name="Rectangle 5"/>
          <p:cNvSpPr/>
          <p:nvPr/>
        </p:nvSpPr>
        <p:spPr>
          <a:xfrm>
            <a:off x="1326709" y="4141315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26709" y="5170061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26709" y="4655688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before_script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26709" y="3625196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before_install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26709" y="310907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Install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 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26709" y="5691787"/>
            <a:ext cx="1940092" cy="4932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b</a:t>
            </a:r>
            <a:r>
              <a:rPr lang="en-US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efore_cache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66801" y="4717669"/>
            <a:ext cx="178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on </a:t>
            </a:r>
            <a:r>
              <a:rPr lang="en-US" dirty="0" err="1" smtClean="0"/>
              <a:t>GIBstazi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266801" y="3687736"/>
            <a:ext cx="178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Turn off </a:t>
            </a:r>
            <a:r>
              <a:rPr lang="en-US" dirty="0" err="1" smtClean="0"/>
              <a:t>GIBstazi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66799" y="5753768"/>
            <a:ext cx="500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Collect </a:t>
            </a:r>
            <a:r>
              <a:rPr lang="en-US" sz="1600" dirty="0" smtClean="0">
                <a:latin typeface="Consolas" panose="020B0609020204030204" pitchFamily="49" charset="0"/>
              </a:rPr>
              <a:t>.</a:t>
            </a:r>
            <a:r>
              <a:rPr lang="en-US" sz="1600" dirty="0" err="1" smtClean="0">
                <a:latin typeface="Consolas" panose="020B0609020204030204" pitchFamily="49" charset="0"/>
              </a:rPr>
              <a:t>ekstazi</a:t>
            </a:r>
            <a:r>
              <a:rPr lang="en-US" sz="1600" dirty="0" smtClean="0">
                <a:latin typeface="Consolas" panose="020B0609020204030204" pitchFamily="49" charset="0"/>
              </a:rPr>
              <a:t>/</a:t>
            </a:r>
            <a:r>
              <a:rPr lang="en-US" dirty="0" smtClean="0"/>
              <a:t> directories and </a:t>
            </a:r>
            <a:r>
              <a:rPr lang="en-US" sz="1600" dirty="0" err="1" smtClean="0">
                <a:latin typeface="Consolas" panose="020B0609020204030204" pitchFamily="49" charset="0"/>
              </a:rPr>
              <a:t>classpath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266799" y="3171058"/>
            <a:ext cx="500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Copy in </a:t>
            </a:r>
            <a:r>
              <a:rPr lang="en-US" sz="1600" dirty="0" smtClean="0">
                <a:latin typeface="Consolas" panose="020B0609020204030204" pitchFamily="49" charset="0"/>
              </a:rPr>
              <a:t>.</a:t>
            </a:r>
            <a:r>
              <a:rPr lang="en-US" sz="1600" dirty="0" err="1" smtClean="0">
                <a:latin typeface="Consolas" panose="020B0609020204030204" pitchFamily="49" charset="0"/>
              </a:rPr>
              <a:t>ekstazi</a:t>
            </a:r>
            <a:r>
              <a:rPr lang="en-US" sz="1600" dirty="0" smtClean="0">
                <a:latin typeface="Consolas" panose="020B0609020204030204" pitchFamily="49" charset="0"/>
              </a:rPr>
              <a:t>/</a:t>
            </a:r>
            <a:r>
              <a:rPr lang="en-US" dirty="0" smtClean="0"/>
              <a:t> directories and </a:t>
            </a:r>
            <a:r>
              <a:rPr lang="en-US" sz="1600" dirty="0" err="1" smtClean="0">
                <a:latin typeface="Consolas" panose="020B0609020204030204" pitchFamily="49" charset="0"/>
              </a:rPr>
              <a:t>classpath</a:t>
            </a:r>
            <a:r>
              <a:rPr lang="en-US" dirty="0" smtClean="0"/>
              <a:t>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48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Evaluate on 22 projects that use Travis CI</a:t>
            </a:r>
          </a:p>
          <a:p>
            <a:pPr lvl="1"/>
            <a:r>
              <a:rPr lang="en-US" dirty="0" smtClean="0"/>
              <a:t>Long-building projects with multiple modules</a:t>
            </a:r>
          </a:p>
          <a:p>
            <a:r>
              <a:rPr lang="en-US" dirty="0" smtClean="0"/>
              <a:t>Replay 1377 past jobs on Travis CI with </a:t>
            </a:r>
            <a:r>
              <a:rPr lang="en-US" dirty="0" err="1" smtClean="0"/>
              <a:t>RetestAll</a:t>
            </a:r>
            <a:r>
              <a:rPr lang="en-US" dirty="0" smtClean="0"/>
              <a:t> and the 3 RTS tools</a:t>
            </a:r>
          </a:p>
          <a:p>
            <a:endParaRPr lang="en-US" dirty="0"/>
          </a:p>
          <a:p>
            <a:r>
              <a:rPr lang="en-US" dirty="0" smtClean="0"/>
              <a:t>RQ1</a:t>
            </a:r>
            <a:r>
              <a:rPr lang="en-US" dirty="0"/>
              <a:t>: </a:t>
            </a:r>
            <a:r>
              <a:rPr lang="en-US" dirty="0" smtClean="0"/>
              <a:t>What are the RTS % tests, % total time, % test time of </a:t>
            </a:r>
            <a:r>
              <a:rPr lang="en-US" dirty="0" err="1" smtClean="0"/>
              <a:t>RetestAll</a:t>
            </a:r>
            <a:r>
              <a:rPr lang="en-US" dirty="0" smtClean="0"/>
              <a:t>?</a:t>
            </a:r>
          </a:p>
          <a:p>
            <a:r>
              <a:rPr lang="en-US" dirty="0" smtClean="0"/>
              <a:t>RQ2</a:t>
            </a:r>
            <a:r>
              <a:rPr lang="en-US" dirty="0"/>
              <a:t>: How </a:t>
            </a:r>
            <a:r>
              <a:rPr lang="en-US" dirty="0" smtClean="0"/>
              <a:t>well does RTS select failing tests?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70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RQ1: </a:t>
            </a:r>
            <a:r>
              <a:rPr lang="en-US" dirty="0"/>
              <a:t>Tests Selected/RTS Time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Compare RTS techniques against </a:t>
            </a:r>
            <a:r>
              <a:rPr lang="en-US" dirty="0" err="1" smtClean="0"/>
              <a:t>RetestAll</a:t>
            </a:r>
            <a:endParaRPr lang="en-US" dirty="0" smtClean="0"/>
          </a:p>
          <a:p>
            <a:pPr lvl="1"/>
            <a:r>
              <a:rPr lang="en-US" dirty="0" smtClean="0"/>
              <a:t>Measure tests run and time of </a:t>
            </a:r>
            <a:r>
              <a:rPr lang="en-US" dirty="0" err="1" smtClean="0"/>
              <a:t>RetestAll</a:t>
            </a:r>
            <a:r>
              <a:rPr lang="en-US" dirty="0" smtClean="0"/>
              <a:t> job runs</a:t>
            </a:r>
          </a:p>
          <a:p>
            <a:r>
              <a:rPr lang="en-US" dirty="0" smtClean="0"/>
              <a:t>% of </a:t>
            </a:r>
            <a:r>
              <a:rPr lang="en-US" dirty="0" err="1" smtClean="0"/>
              <a:t>RetestAll</a:t>
            </a:r>
            <a:r>
              <a:rPr lang="en-US" dirty="0" smtClean="0"/>
              <a:t> Tests </a:t>
            </a:r>
            <a:r>
              <a:rPr lang="en-US" dirty="0"/>
              <a:t>S</a:t>
            </a:r>
            <a:r>
              <a:rPr lang="en-US" dirty="0" smtClean="0"/>
              <a:t>elected</a:t>
            </a:r>
          </a:p>
          <a:p>
            <a:r>
              <a:rPr lang="en-US" dirty="0" smtClean="0"/>
              <a:t>% of </a:t>
            </a:r>
            <a:r>
              <a:rPr lang="en-US" dirty="0" err="1" smtClean="0"/>
              <a:t>RetestAll</a:t>
            </a:r>
            <a:r>
              <a:rPr lang="en-US" dirty="0" smtClean="0"/>
              <a:t> Test Time</a:t>
            </a:r>
          </a:p>
          <a:p>
            <a:pPr lvl="1"/>
            <a:r>
              <a:rPr lang="en-US" dirty="0" smtClean="0"/>
              <a:t>Only time in </a:t>
            </a:r>
            <a:r>
              <a:rPr lang="en-US" sz="2800" dirty="0" smtClean="0">
                <a:latin typeface="Consolas" panose="020B0609020204030204" pitchFamily="49" charset="0"/>
              </a:rPr>
              <a:t>script</a:t>
            </a:r>
            <a:r>
              <a:rPr lang="en-US" dirty="0" smtClean="0"/>
              <a:t> phase</a:t>
            </a:r>
          </a:p>
          <a:p>
            <a:r>
              <a:rPr lang="en-US" dirty="0"/>
              <a:t>% of </a:t>
            </a:r>
            <a:r>
              <a:rPr lang="en-US" dirty="0" err="1"/>
              <a:t>RetestAll</a:t>
            </a:r>
            <a:r>
              <a:rPr lang="en-US" dirty="0"/>
              <a:t> Total Time</a:t>
            </a:r>
          </a:p>
          <a:p>
            <a:pPr lvl="1"/>
            <a:r>
              <a:rPr lang="en-US" dirty="0"/>
              <a:t>End-to-end job </a:t>
            </a:r>
            <a:r>
              <a:rPr lang="en-US" dirty="0" smtClean="0"/>
              <a:t>time</a:t>
            </a:r>
          </a:p>
          <a:p>
            <a:r>
              <a:rPr lang="en-US" b="1" dirty="0" smtClean="0"/>
              <a:t>Expectation:</a:t>
            </a:r>
            <a:r>
              <a:rPr lang="en-US" dirty="0" smtClean="0"/>
              <a:t> </a:t>
            </a:r>
            <a:r>
              <a:rPr lang="en-US" dirty="0" err="1" smtClean="0"/>
              <a:t>Ekstazi</a:t>
            </a:r>
            <a:r>
              <a:rPr lang="en-US" dirty="0" smtClean="0"/>
              <a:t> &lt; </a:t>
            </a:r>
            <a:r>
              <a:rPr lang="en-US" dirty="0" err="1" smtClean="0"/>
              <a:t>GIBstazi</a:t>
            </a:r>
            <a:r>
              <a:rPr lang="en-US" dirty="0" smtClean="0"/>
              <a:t> &lt; GIB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21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235" y="2522453"/>
            <a:ext cx="3925355" cy="38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0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RQ1: Tests </a:t>
            </a:r>
            <a:r>
              <a:rPr lang="en-US" dirty="0" smtClean="0"/>
              <a:t>Selected/RTS </a:t>
            </a:r>
            <a:r>
              <a:rPr lang="en-US" dirty="0"/>
              <a:t>Time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4386157"/>
              </p:ext>
            </p:extLst>
          </p:nvPr>
        </p:nvGraphicFramePr>
        <p:xfrm>
          <a:off x="605674" y="1097280"/>
          <a:ext cx="3017520" cy="5486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7981105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33812763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06358731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664299476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r>
                        <a:rPr lang="en-US" sz="1800" dirty="0" smtClean="0"/>
                        <a:t>ID</a:t>
                      </a:r>
                      <a:endParaRPr lang="en-US" sz="1400" dirty="0"/>
                    </a:p>
                  </a:txBody>
                  <a:tcPr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550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  <a:p>
                      <a:pPr algn="ctr"/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0739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2975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38660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33209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072239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29603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95219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25417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91799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9077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89914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83430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36391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71228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9163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9197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5552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89971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9478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2107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P20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071337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P21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6254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P22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67330829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689104"/>
              </p:ext>
            </p:extLst>
          </p:nvPr>
        </p:nvGraphicFramePr>
        <p:xfrm>
          <a:off x="3631736" y="1097279"/>
          <a:ext cx="2468880" cy="5486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318854375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4085378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986321206"/>
                    </a:ext>
                  </a:extLst>
                </a:gridCol>
              </a:tblGrid>
              <a:tr h="338328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GIB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3829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2622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78370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78.3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30489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43.4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4677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57.3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016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5718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68.3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44339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6308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907254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9079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115.3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79610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91.1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83.1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50874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21.9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47.1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8554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44.8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57.3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10905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126.3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610.1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1453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47.9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81.8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8236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22.0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3696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32.9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46.3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1817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98.1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0804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78.1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9676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68.0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25545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47.0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34698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27.9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32.7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37.1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10726987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293425"/>
              </p:ext>
            </p:extLst>
          </p:nvPr>
        </p:nvGraphicFramePr>
        <p:xfrm>
          <a:off x="6116604" y="1097279"/>
          <a:ext cx="2468880" cy="5486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318854375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4085378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986321206"/>
                    </a:ext>
                  </a:extLst>
                </a:gridCol>
              </a:tblGrid>
              <a:tr h="338328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GIBstazi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3829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2622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84.7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92.8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78370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30489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44.0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4677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016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85.6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5718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41.3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73.8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44339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6308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907254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75.6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9079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154.4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79610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45.0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50874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33.2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8554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34.8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10905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146.5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138.7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123.4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1453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25.1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60.8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8236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49.8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3696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32.5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54.2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1817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0804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34.3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9676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69.8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88.7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25545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37.4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64.8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67.0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34698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10726987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747109"/>
              </p:ext>
            </p:extLst>
          </p:nvPr>
        </p:nvGraphicFramePr>
        <p:xfrm>
          <a:off x="6109158" y="6578597"/>
          <a:ext cx="2468880" cy="21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98657382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63996900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6808159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42.8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72.2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94990011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13709"/>
              </p:ext>
            </p:extLst>
          </p:nvPr>
        </p:nvGraphicFramePr>
        <p:xfrm>
          <a:off x="3631736" y="6581138"/>
          <a:ext cx="2468880" cy="21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420992531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627102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2560712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86.6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77.3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1023746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150736" y="1097279"/>
            <a:ext cx="2467494" cy="56997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99455"/>
              </p:ext>
            </p:extLst>
          </p:nvPr>
        </p:nvGraphicFramePr>
        <p:xfrm>
          <a:off x="1156796" y="6583680"/>
          <a:ext cx="2468880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80223916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67668838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7043825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65.5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77.9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9266601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546909"/>
              </p:ext>
            </p:extLst>
          </p:nvPr>
        </p:nvGraphicFramePr>
        <p:xfrm>
          <a:off x="1150043" y="1097279"/>
          <a:ext cx="2468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318854375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84085378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986321206"/>
                    </a:ext>
                  </a:extLst>
                </a:gridCol>
              </a:tblGrid>
              <a:tr h="338328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Ekstazi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3829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2622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104.5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78370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30489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77.1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114.8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86.6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46771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121.7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016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50.5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5718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45.5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30.5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44339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63082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49.9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907254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38.7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71.0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9079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79610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50874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8554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21.8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73.5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85.4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10905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96.1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89.5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1453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28.3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79.9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95.4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8236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84.0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36961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42.0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93.3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1817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83.3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0804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96764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118.1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204.0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163.1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25545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18.3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68.5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534698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10726987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141220"/>
              </p:ext>
            </p:extLst>
          </p:nvPr>
        </p:nvGraphicFramePr>
        <p:xfrm>
          <a:off x="608156" y="6583679"/>
          <a:ext cx="548640" cy="21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91858268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AVG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23383189"/>
                  </a:ext>
                </a:extLst>
              </a:tr>
            </a:tbl>
          </a:graphicData>
        </a:graphic>
      </p:graphicFrame>
      <p:sp>
        <p:nvSpPr>
          <p:cNvPr id="12" name="Oval 11"/>
          <p:cNvSpPr/>
          <p:nvPr/>
        </p:nvSpPr>
        <p:spPr>
          <a:xfrm>
            <a:off x="1847215" y="6502398"/>
            <a:ext cx="1883573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799578" y="6502400"/>
            <a:ext cx="1841668" cy="3380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58520" y="6502398"/>
            <a:ext cx="1813325" cy="3556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68568" y="5028177"/>
            <a:ext cx="3550059" cy="68349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/>
              <a:t>GIBstazi</a:t>
            </a:r>
            <a:r>
              <a:rPr lang="en-US" sz="3200" b="1" dirty="0" smtClean="0"/>
              <a:t> is faster?!</a:t>
            </a:r>
            <a:endParaRPr lang="en-US" sz="3200" b="1" dirty="0"/>
          </a:p>
        </p:txBody>
      </p:sp>
      <p:sp>
        <p:nvSpPr>
          <p:cNvPr id="16" name="Oval 15"/>
          <p:cNvSpPr/>
          <p:nvPr/>
        </p:nvSpPr>
        <p:spPr>
          <a:xfrm>
            <a:off x="1026394" y="5866017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634218" y="4599077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100616" y="4602627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192209" y="2770736"/>
            <a:ext cx="4449037" cy="68349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Selecting &gt;100% Tests?!</a:t>
            </a:r>
            <a:endParaRPr lang="en-US" sz="3200" b="1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6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&gt;100% Selection?!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RetestAll</a:t>
            </a:r>
            <a:r>
              <a:rPr lang="en-US" dirty="0" smtClean="0"/>
              <a:t> can fail early due to test failures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6" y="2299855"/>
            <a:ext cx="6067035" cy="447804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909455" y="4231808"/>
            <a:ext cx="1893455" cy="16973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 flipH="1">
            <a:off x="6243550" y="2983345"/>
            <a:ext cx="30310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This is reality</a:t>
            </a:r>
          </a:p>
          <a:p>
            <a:endParaRPr lang="en-US" sz="2800" dirty="0"/>
          </a:p>
          <a:p>
            <a:r>
              <a:rPr lang="en-US" sz="2800" dirty="0" smtClean="0"/>
              <a:t>but doesn’t help us answer the RQ…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2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1690689"/>
          </a:xfrm>
        </p:spPr>
        <p:txBody>
          <a:bodyPr/>
          <a:lstStyle/>
          <a:p>
            <a:r>
              <a:rPr lang="en-US" dirty="0" smtClean="0"/>
              <a:t>RQ1: Tests Selected/RTS Time </a:t>
            </a:r>
            <a:r>
              <a:rPr lang="en-US" dirty="0" smtClean="0"/>
              <a:t>(Filtered)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871416"/>
              </p:ext>
            </p:extLst>
          </p:nvPr>
        </p:nvGraphicFramePr>
        <p:xfrm>
          <a:off x="594359" y="1576782"/>
          <a:ext cx="3017520" cy="4846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79811054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10637031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733011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9301125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800" dirty="0" smtClean="0"/>
                        <a:t>ID</a:t>
                      </a:r>
                      <a:endParaRPr lang="en-US" sz="1400" dirty="0"/>
                    </a:p>
                  </a:txBody>
                  <a:tcPr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GIBstazi</a:t>
                      </a:r>
                      <a:endParaRPr lang="en-US" sz="1800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550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  <a:endParaRPr lang="en-US" sz="1400" baseline="0" dirty="0" smtClean="0"/>
                    </a:p>
                    <a:p>
                      <a:pPr algn="ctr"/>
                      <a:r>
                        <a:rPr lang="en-US" sz="1400" baseline="0" dirty="0" smtClean="0"/>
                        <a:t>Time </a:t>
                      </a:r>
                      <a:r>
                        <a:rPr lang="en-US" sz="1400" dirty="0" smtClean="0"/>
                        <a:t>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0739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2975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38660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072239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929603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43.6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74,4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952199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25417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91799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75.6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9077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P10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154.4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89914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83430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36391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67.6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71228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91.0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9197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28.5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5552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31.8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089971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9478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P19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2107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P21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68.1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6254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AVG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77.4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420579240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15861"/>
              </p:ext>
            </p:extLst>
          </p:nvPr>
        </p:nvGraphicFramePr>
        <p:xfrm>
          <a:off x="594359" y="6209742"/>
          <a:ext cx="548640" cy="21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48082401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AVG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31139848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91119"/>
              </p:ext>
            </p:extLst>
          </p:nvPr>
        </p:nvGraphicFramePr>
        <p:xfrm>
          <a:off x="3611879" y="1576782"/>
          <a:ext cx="2468880" cy="4632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63768189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56959084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7580391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GIB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7631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</a:p>
                    <a:p>
                      <a:pPr algn="ctr"/>
                      <a:r>
                        <a:rPr lang="en-US" sz="1400" dirty="0" smtClean="0"/>
                        <a:t>Time</a:t>
                      </a:r>
                      <a:r>
                        <a:rPr lang="en-US" sz="1400" baseline="0" dirty="0" smtClean="0"/>
                        <a:t>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063595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9244733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78.3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90961456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57.3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8036824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103.6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103.4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180661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69.7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007013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247770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48216989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8079591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115.3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733799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91.1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83.1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7210825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22.5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030448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33.5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48.4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72.1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5673877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47.4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66794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25.9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31.9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083727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32.1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542296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98.1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97887042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98.6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9630547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64.9</a:t>
                      </a:r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384244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895907"/>
              </p:ext>
            </p:extLst>
          </p:nvPr>
        </p:nvGraphicFramePr>
        <p:xfrm>
          <a:off x="3611879" y="6209742"/>
          <a:ext cx="2468880" cy="21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4023366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798156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6872344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64.6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79.7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8435721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499731"/>
              </p:ext>
            </p:extLst>
          </p:nvPr>
        </p:nvGraphicFramePr>
        <p:xfrm>
          <a:off x="6080759" y="1576782"/>
          <a:ext cx="2468880" cy="4632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63768189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56959084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7580391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GIBstazi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7631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</a:p>
                    <a:p>
                      <a:pPr algn="ctr"/>
                      <a:r>
                        <a:rPr lang="en-US" sz="1400" dirty="0" smtClean="0"/>
                        <a:t>Time</a:t>
                      </a:r>
                      <a:r>
                        <a:rPr lang="en-US" sz="1400" baseline="0" dirty="0" smtClean="0"/>
                        <a:t>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063595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9244733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90961456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8036824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109.7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180661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43.6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74,4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007013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79.1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247770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48216989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75.6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8079591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154.4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733799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7210825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13.0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030448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29.5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67.6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5673877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91.0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66794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28.5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41.5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083727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31.8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53.7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102.7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542296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97887042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99.9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9630547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68.1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384244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010565"/>
              </p:ext>
            </p:extLst>
          </p:nvPr>
        </p:nvGraphicFramePr>
        <p:xfrm>
          <a:off x="6080759" y="6211806"/>
          <a:ext cx="2468880" cy="21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4023366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798156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6872344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77.4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8435721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142999" y="1576782"/>
            <a:ext cx="2468880" cy="48463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09881"/>
              </p:ext>
            </p:extLst>
          </p:nvPr>
        </p:nvGraphicFramePr>
        <p:xfrm>
          <a:off x="1142999" y="1576782"/>
          <a:ext cx="246888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63768189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56959084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7580391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Ekstazi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7631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Tests (%)</a:t>
                      </a:r>
                      <a:endParaRPr lang="en-US" sz="1400" dirty="0"/>
                    </a:p>
                  </a:txBody>
                  <a:tcPr marL="45720" marR="4572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Test</a:t>
                      </a:r>
                    </a:p>
                    <a:p>
                      <a:pPr algn="ctr"/>
                      <a:r>
                        <a:rPr lang="en-US" sz="1400" dirty="0" smtClean="0"/>
                        <a:t>Time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Total</a:t>
                      </a:r>
                    </a:p>
                    <a:p>
                      <a:pPr algn="ctr"/>
                      <a:r>
                        <a:rPr lang="en-US" sz="1400" dirty="0" smtClean="0"/>
                        <a:t>Time</a:t>
                      </a:r>
                      <a:r>
                        <a:rPr lang="en-US" sz="1400" baseline="0" dirty="0" smtClean="0"/>
                        <a:t> (%)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063595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101.1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9244733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97.8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90961456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121.7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8036824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16.6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49.8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60.6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180661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44.6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25.8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0070130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37.5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56.7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224777030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35.1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50.1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48216989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38.7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71.0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75.7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8079591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36.9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4733799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24.1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59.2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7210825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0.8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21.6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030448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25.1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49.8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73.0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5673877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69.4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93.9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66794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87.6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94.0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083727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20.8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41.7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93.4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542296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55.8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83.3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97887042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100.9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101.4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9630547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19.5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62.7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65.2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384244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283788"/>
              </p:ext>
            </p:extLst>
          </p:nvPr>
        </p:nvGraphicFramePr>
        <p:xfrm>
          <a:off x="1142999" y="6209742"/>
          <a:ext cx="2468880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4023366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4798156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6872344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30.6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58.3</a:t>
                      </a:r>
                      <a:endParaRPr lang="en-US" sz="14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 smtClean="0"/>
                        <a:t>76.0</a:t>
                      </a:r>
                      <a:endParaRPr lang="en-US" sz="14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4184357211"/>
                  </a:ext>
                </a:extLst>
              </a:tr>
            </a:tbl>
          </a:graphicData>
        </a:graphic>
      </p:graphicFrame>
      <p:sp>
        <p:nvSpPr>
          <p:cNvPr id="15" name="Oval 14"/>
          <p:cNvSpPr/>
          <p:nvPr/>
        </p:nvSpPr>
        <p:spPr>
          <a:xfrm>
            <a:off x="1847216" y="6136640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799578" y="6136641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58521" y="6136640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015079" y="3575619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88579" y="3575618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957459" y="3575618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015079" y="508330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488579" y="5083305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5957459" y="5083305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860983" y="2542979"/>
            <a:ext cx="1088040" cy="54673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334483" y="2542978"/>
            <a:ext cx="1088040" cy="5467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803363" y="2542978"/>
            <a:ext cx="1088040" cy="5467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847216" y="339081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320716" y="3390815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789596" y="3390815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847216" y="4877490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320716" y="4877489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789596" y="4877489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2606008" y="6144760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558370" y="6144761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117313" y="6144760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171666" y="5361650"/>
            <a:ext cx="4449037" cy="683491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No Statistical Difference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1600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</a:t>
            </a:r>
            <a:r>
              <a:rPr lang="en-US" dirty="0" err="1" smtClean="0"/>
              <a:t>Ekstazi</a:t>
            </a:r>
            <a:r>
              <a:rPr lang="en-US" dirty="0" smtClean="0"/>
              <a:t> </a:t>
            </a:r>
            <a:r>
              <a:rPr lang="en-US" dirty="0" smtClean="0"/>
              <a:t>Running</a:t>
            </a:r>
            <a:r>
              <a:rPr lang="en-US" dirty="0" smtClean="0"/>
              <a:t> Slower?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Running</a:t>
            </a:r>
            <a:r>
              <a:rPr lang="en-US" dirty="0" smtClean="0"/>
              <a:t> more tests:</a:t>
            </a:r>
          </a:p>
          <a:p>
            <a:pPr lvl="1"/>
            <a:r>
              <a:rPr lang="en-US" dirty="0" smtClean="0"/>
              <a:t>Non-deterministic compilation -&gt; seemingly more changes than developer intended</a:t>
            </a:r>
          </a:p>
          <a:p>
            <a:pPr lvl="1"/>
            <a:r>
              <a:rPr lang="en-US" dirty="0" smtClean="0"/>
              <a:t>Incomplete prior runs do not cache </a:t>
            </a:r>
            <a:r>
              <a:rPr lang="en-US" sz="2800" dirty="0" smtClean="0">
                <a:latin typeface="Consolas" panose="020B0609020204030204" pitchFamily="49" charset="0"/>
              </a:rPr>
              <a:t>.</a:t>
            </a:r>
            <a:r>
              <a:rPr lang="en-US" sz="2800" dirty="0" err="1" smtClean="0">
                <a:latin typeface="Consolas" panose="020B0609020204030204" pitchFamily="49" charset="0"/>
              </a:rPr>
              <a:t>ekstazi</a:t>
            </a:r>
            <a:r>
              <a:rPr lang="en-US" sz="2800" dirty="0" smtClean="0">
                <a:latin typeface="Consolas" panose="020B0609020204030204" pitchFamily="49" charset="0"/>
              </a:rPr>
              <a:t>/</a:t>
            </a:r>
            <a:endParaRPr lang="en-US" dirty="0" smtClean="0">
              <a:latin typeface="Consolas" panose="020B0609020204030204" pitchFamily="49" charset="0"/>
            </a:endParaRPr>
          </a:p>
          <a:p>
            <a:pPr lvl="2"/>
            <a:r>
              <a:rPr lang="en-US" dirty="0" smtClean="0"/>
              <a:t>Selecting based on old changes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More in paper</a:t>
            </a:r>
          </a:p>
          <a:p>
            <a:r>
              <a:rPr lang="en-US" dirty="0" smtClean="0"/>
              <a:t>Running longer:</a:t>
            </a:r>
          </a:p>
          <a:p>
            <a:pPr lvl="1"/>
            <a:r>
              <a:rPr lang="en-US" dirty="0" smtClean="0"/>
              <a:t>Instrumented runs are longer</a:t>
            </a:r>
          </a:p>
          <a:p>
            <a:pPr lvl="1"/>
            <a:r>
              <a:rPr lang="en-US" dirty="0" smtClean="0"/>
              <a:t>Overhead of analyzing unaffected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RQ2: Failing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percent of </a:t>
            </a:r>
            <a:r>
              <a:rPr lang="en-US" dirty="0" err="1" smtClean="0"/>
              <a:t>RetestAll</a:t>
            </a:r>
            <a:r>
              <a:rPr lang="en-US" dirty="0" smtClean="0"/>
              <a:t> failing tests do the RTS techniques select?</a:t>
            </a:r>
          </a:p>
          <a:p>
            <a:r>
              <a:rPr lang="en-US" dirty="0" smtClean="0"/>
              <a:t>Three categories for failing tests:</a:t>
            </a:r>
          </a:p>
          <a:p>
            <a:pPr lvl="1"/>
            <a:r>
              <a:rPr lang="en-US" dirty="0" smtClean="0"/>
              <a:t>Selected</a:t>
            </a:r>
          </a:p>
          <a:p>
            <a:pPr lvl="1"/>
            <a:r>
              <a:rPr lang="en-US" dirty="0" smtClean="0"/>
              <a:t>Not Selected</a:t>
            </a:r>
          </a:p>
          <a:p>
            <a:pPr lvl="1"/>
            <a:r>
              <a:rPr lang="en-US" dirty="0" smtClean="0"/>
              <a:t>Unknown</a:t>
            </a:r>
          </a:p>
          <a:p>
            <a:pPr lvl="2"/>
            <a:r>
              <a:rPr lang="en-US" dirty="0"/>
              <a:t>E</a:t>
            </a:r>
            <a:r>
              <a:rPr lang="en-US" dirty="0" smtClean="0"/>
              <a:t>arly failures lead to later modules being skipped, so unknown if later test selected</a:t>
            </a:r>
            <a:endParaRPr lang="en-US" dirty="0"/>
          </a:p>
          <a:p>
            <a:r>
              <a:rPr lang="en-US" dirty="0" smtClean="0"/>
              <a:t>Ideally, 0% for “Not Selected”</a:t>
            </a:r>
            <a:endParaRPr lang="en-US" dirty="0"/>
          </a:p>
          <a:p>
            <a:pPr lvl="1"/>
            <a:r>
              <a:rPr lang="en-US" b="1" dirty="0" smtClean="0"/>
              <a:t>Expectation:</a:t>
            </a:r>
            <a:r>
              <a:rPr lang="en-US" dirty="0" smtClean="0"/>
              <a:t> </a:t>
            </a:r>
            <a:r>
              <a:rPr lang="en-US" dirty="0" err="1" smtClean="0"/>
              <a:t>Ekstazi</a:t>
            </a:r>
            <a:r>
              <a:rPr lang="en-US" dirty="0" smtClean="0"/>
              <a:t> &gt; </a:t>
            </a:r>
            <a:r>
              <a:rPr lang="en-US" dirty="0" err="1" smtClean="0"/>
              <a:t>GIBstazi</a:t>
            </a:r>
            <a:r>
              <a:rPr lang="en-US" dirty="0" smtClean="0"/>
              <a:t> = GIB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5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RQ2: Failing </a:t>
            </a:r>
            <a:r>
              <a:rPr lang="en-US" dirty="0" smtClean="0"/>
              <a:t>Tests Results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397841"/>
              </p:ext>
            </p:extLst>
          </p:nvPr>
        </p:nvGraphicFramePr>
        <p:xfrm>
          <a:off x="320040" y="1690689"/>
          <a:ext cx="4114800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63875366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03428236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6480713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0301019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9507230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 marL="45720" marR="4572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 Failed</a:t>
                      </a:r>
                    </a:p>
                    <a:p>
                      <a:pPr algn="ctr"/>
                      <a:r>
                        <a:rPr lang="en-US" dirty="0" smtClean="0"/>
                        <a:t>Tests</a:t>
                      </a:r>
                      <a:endParaRPr lang="en-US" dirty="0"/>
                    </a:p>
                  </a:txBody>
                  <a:tcPr marL="45720" marR="4572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GIB %</a:t>
                      </a:r>
                      <a:endParaRPr lang="en-US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53595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 Sel.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394125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6847843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7271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6134669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95163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522072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7784656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7198945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045761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38090949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P20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53.9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0466415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P21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0.0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18657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018711"/>
              </p:ext>
            </p:extLst>
          </p:nvPr>
        </p:nvGraphicFramePr>
        <p:xfrm>
          <a:off x="320040" y="5653089"/>
          <a:ext cx="1097280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13656232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SUM/AVG</a:t>
                      </a:r>
                      <a:endParaRPr lang="en-US" sz="18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3681332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57103"/>
              </p:ext>
            </p:extLst>
          </p:nvPr>
        </p:nvGraphicFramePr>
        <p:xfrm>
          <a:off x="6624320" y="1667341"/>
          <a:ext cx="2194560" cy="3967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2191165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38814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684076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GIBstazi</a:t>
                      </a:r>
                      <a:r>
                        <a:rPr lang="en-US" dirty="0" smtClean="0"/>
                        <a:t> %</a:t>
                      </a:r>
                      <a:endParaRPr lang="en-US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 Sel.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4205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10856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362942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463148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60563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749414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01940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39741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21303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44753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38.5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737922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9223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93561"/>
              </p:ext>
            </p:extLst>
          </p:nvPr>
        </p:nvGraphicFramePr>
        <p:xfrm>
          <a:off x="6624320" y="5653089"/>
          <a:ext cx="2194560" cy="274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3203036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421284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3504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64.6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32.3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9749722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399490"/>
              </p:ext>
            </p:extLst>
          </p:nvPr>
        </p:nvGraphicFramePr>
        <p:xfrm>
          <a:off x="4434840" y="1667341"/>
          <a:ext cx="2194560" cy="3967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2191165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38814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684076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GIB %</a:t>
                      </a:r>
                      <a:endParaRPr lang="en-US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 Sel.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4205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10856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362942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463148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60563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749414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01940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39741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21303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44753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53.9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737922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0.0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9223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958280"/>
              </p:ext>
            </p:extLst>
          </p:nvPr>
        </p:nvGraphicFramePr>
        <p:xfrm>
          <a:off x="4434840" y="5653089"/>
          <a:ext cx="2194560" cy="274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3203036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421284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3504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72.9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27.1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9749722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245360" y="1690689"/>
            <a:ext cx="2189480" cy="3944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60627"/>
              </p:ext>
            </p:extLst>
          </p:nvPr>
        </p:nvGraphicFramePr>
        <p:xfrm>
          <a:off x="2245360" y="1685609"/>
          <a:ext cx="2194560" cy="396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2191165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38814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684076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Ekstazi</a:t>
                      </a:r>
                      <a:r>
                        <a:rPr lang="en-US" dirty="0" smtClean="0"/>
                        <a:t> %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</a:t>
                      </a:r>
                    </a:p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4205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10856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362942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463148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60563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749414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57.1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42.9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01940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39741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14.3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85.7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21303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44753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84.6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737922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9223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903231"/>
              </p:ext>
            </p:extLst>
          </p:nvPr>
        </p:nvGraphicFramePr>
        <p:xfrm>
          <a:off x="2245360" y="5665533"/>
          <a:ext cx="21945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3203036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421284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3504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69.8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19.8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97497221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097818"/>
              </p:ext>
            </p:extLst>
          </p:nvPr>
        </p:nvGraphicFramePr>
        <p:xfrm>
          <a:off x="1417320" y="5653089"/>
          <a:ext cx="822960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13656232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96</a:t>
                      </a:r>
                      <a:endParaRPr lang="en-US" sz="18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3681332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6210300"/>
            <a:ext cx="4694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Are we missing bugs by using RTS?!</a:t>
            </a:r>
            <a:endParaRPr 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2646113" y="562122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014913" y="562122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30513" y="562122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mage result for sad face clip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528" y="5964104"/>
            <a:ext cx="1403385" cy="8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05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No, They’re Flaky!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Flaky tests:</a:t>
            </a:r>
            <a:r>
              <a:rPr lang="en-US" dirty="0" smtClean="0"/>
              <a:t> tests that can </a:t>
            </a:r>
            <a:r>
              <a:rPr lang="en-US" dirty="0" err="1" smtClean="0"/>
              <a:t>nondeterministically</a:t>
            </a:r>
            <a:r>
              <a:rPr lang="en-US" dirty="0" smtClean="0"/>
              <a:t> pass or fail on the same, unchanged code</a:t>
            </a:r>
          </a:p>
          <a:p>
            <a:r>
              <a:rPr lang="en-US" dirty="0" smtClean="0"/>
              <a:t>All but one failing test confirmed as flaky after rerunning them</a:t>
            </a:r>
          </a:p>
          <a:p>
            <a:pPr lvl="1"/>
            <a:r>
              <a:rPr lang="en-US" dirty="0" smtClean="0"/>
              <a:t>All RTS techniques selected the one non-flaky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9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RQ2: Failing </a:t>
            </a:r>
            <a:r>
              <a:rPr lang="en-US" dirty="0" smtClean="0"/>
              <a:t>Tests Results (revisited)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690689"/>
          <a:ext cx="4114800" cy="3962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63875366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403428236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6480713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0301019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9507230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 marL="45720" marR="4572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 Failed</a:t>
                      </a:r>
                    </a:p>
                    <a:p>
                      <a:pPr algn="ctr"/>
                      <a:r>
                        <a:rPr lang="en-US" dirty="0" smtClean="0"/>
                        <a:t>Tests</a:t>
                      </a:r>
                      <a:endParaRPr lang="en-US" dirty="0"/>
                    </a:p>
                  </a:txBody>
                  <a:tcPr marL="45720" marR="4572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GIB %</a:t>
                      </a:r>
                      <a:endParaRPr lang="en-US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653595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 Sel.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5394125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6847843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97271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6134669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95163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522072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17784656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7198945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3045761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P19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38090949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P20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53.9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0466415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P21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0.0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818657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5653089"/>
          <a:ext cx="1097280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13656232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SUM/AVG</a:t>
                      </a:r>
                      <a:endParaRPr lang="en-US" sz="18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3681332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4320" y="1667341"/>
          <a:ext cx="2194560" cy="3967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2191165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38814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684076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GIBstazi</a:t>
                      </a:r>
                      <a:r>
                        <a:rPr lang="en-US" dirty="0" smtClean="0"/>
                        <a:t> %</a:t>
                      </a:r>
                      <a:endParaRPr lang="en-US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 Sel.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4205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10856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362942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463148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60563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749414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01940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39741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21303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44753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38.5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737922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9223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24320" y="5653089"/>
          <a:ext cx="2194560" cy="274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3203036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421284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3504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64.6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32.3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9749722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434840" y="1667341"/>
          <a:ext cx="2194560" cy="3967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2191165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38814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684076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GIB %</a:t>
                      </a:r>
                      <a:endParaRPr lang="en-US" dirty="0"/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 Sel.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4205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10856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362942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463148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60563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749414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01940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39741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21303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44753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53.9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46.2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737922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0.0</a:t>
                      </a:r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9223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34840" y="5653089"/>
          <a:ext cx="2194560" cy="274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3203036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421284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3504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72.9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27.1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9749722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245360" y="1690689"/>
            <a:ext cx="2189480" cy="39441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45360" y="1685609"/>
          <a:ext cx="2194560" cy="396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2191165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8388140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2684076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Ekstazi</a:t>
                      </a:r>
                      <a:r>
                        <a:rPr lang="en-US" dirty="0" smtClean="0"/>
                        <a:t> %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56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Not</a:t>
                      </a:r>
                    </a:p>
                    <a:p>
                      <a:pPr algn="ctr"/>
                      <a:r>
                        <a:rPr lang="en-US" sz="1600" dirty="0" smtClean="0"/>
                        <a:t>Sel.</a:t>
                      </a:r>
                      <a:endParaRPr lang="en-US" sz="1600" dirty="0"/>
                    </a:p>
                  </a:txBody>
                  <a:tcPr marL="45720" marR="4572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Unknown</a:t>
                      </a:r>
                      <a:endParaRPr lang="en-US" sz="1600" dirty="0"/>
                    </a:p>
                  </a:txBody>
                  <a:tcPr marL="45720" marR="45720" anchor="b"/>
                </a:tc>
                <a:extLst>
                  <a:ext uri="{0D108BD9-81ED-4DB2-BD59-A6C34878D82A}">
                    <a16:rowId xmlns:a16="http://schemas.microsoft.com/office/drawing/2014/main" val="3842057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108565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6362942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7463148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6360563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0749414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57.1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42.9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01940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5739741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14.3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85.7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2221303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35644753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84.6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17737922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0.0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83099223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45360" y="5665533"/>
          <a:ext cx="21945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3203036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6421284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13504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69.8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19.8</a:t>
                      </a:r>
                      <a:endParaRPr lang="en-US" sz="1600" dirty="0"/>
                    </a:p>
                  </a:txBody>
                  <a:tcPr marL="45720" marR="4572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10.4</a:t>
                      </a:r>
                      <a:endParaRPr lang="en-US" sz="16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597497221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417320" y="5653089"/>
          <a:ext cx="822960" cy="27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113656232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96</a:t>
                      </a:r>
                      <a:endParaRPr lang="en-US" sz="1800" dirty="0"/>
                    </a:p>
                  </a:txBody>
                  <a:tcPr marL="45720" marR="45720" marT="0" marB="0"/>
                </a:tc>
                <a:extLst>
                  <a:ext uri="{0D108BD9-81ED-4DB2-BD59-A6C34878D82A}">
                    <a16:rowId xmlns:a16="http://schemas.microsoft.com/office/drawing/2014/main" val="2036813326"/>
                  </a:ext>
                </a:extLst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2646113" y="562122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014913" y="562122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30513" y="5621226"/>
            <a:ext cx="1088040" cy="3380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Image result for happy face clip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553" y="5977539"/>
            <a:ext cx="823642" cy="82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20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Evaluated different levels of RTS on Travis CI</a:t>
            </a:r>
          </a:p>
          <a:p>
            <a:r>
              <a:rPr lang="en-US" dirty="0" smtClean="0"/>
              <a:t>All techniques performed relatively similar w.r.t. tests selected and time</a:t>
            </a:r>
          </a:p>
          <a:p>
            <a:pPr lvl="1"/>
            <a:r>
              <a:rPr lang="en-US" dirty="0" smtClean="0"/>
              <a:t>Class-level better in terms of (local) test time</a:t>
            </a:r>
          </a:p>
          <a:p>
            <a:pPr lvl="1"/>
            <a:r>
              <a:rPr lang="en-US" dirty="0" smtClean="0"/>
              <a:t>No statistical differences in total time</a:t>
            </a:r>
          </a:p>
          <a:p>
            <a:r>
              <a:rPr lang="en-US" dirty="0" smtClean="0"/>
              <a:t>All techniques selected to run real failing tests</a:t>
            </a:r>
            <a:endParaRPr lang="en-US" dirty="0" smtClean="0"/>
          </a:p>
          <a:p>
            <a:pPr lvl="1"/>
            <a:r>
              <a:rPr lang="en-US" dirty="0" smtClean="0"/>
              <a:t>All non-selected failing tests were flaky</a:t>
            </a:r>
          </a:p>
          <a:p>
            <a:pPr lvl="1"/>
            <a:r>
              <a:rPr lang="en-US" dirty="0" smtClean="0"/>
              <a:t>RTS is good at avoiding flaky failures!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B8FA7-E6D7-4984-BE45-1DEFAB8D29A8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4330" y="6211668"/>
            <a:ext cx="4049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/>
              <a:t>awshi2@illinois.edu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8627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42594</TotalTime>
  <Words>2075</Words>
  <Application>Microsoft Office PowerPoint</Application>
  <PresentationFormat>On-screen Show (4:3)</PresentationFormat>
  <Paragraphs>1232</Paragraphs>
  <Slides>30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Office Theme</vt:lpstr>
      <vt:lpstr>Understanding and Improving Regression Test Selection in Continuous Integration</vt:lpstr>
      <vt:lpstr>Continuous Integration</vt:lpstr>
      <vt:lpstr>Regression Test Selection (RTS)</vt:lpstr>
      <vt:lpstr>PowerPoint Presentation</vt:lpstr>
      <vt:lpstr>Class-level RTS</vt:lpstr>
      <vt:lpstr>Module-level RTS</vt:lpstr>
      <vt:lpstr>PowerPoint Presentation</vt:lpstr>
      <vt:lpstr>Our Work</vt:lpstr>
      <vt:lpstr>Travis CI: Cloud-based CI Service</vt:lpstr>
      <vt:lpstr>Travis CI Job Phases</vt:lpstr>
      <vt:lpstr>RTS on Travis CI</vt:lpstr>
      <vt:lpstr>Ekstazi</vt:lpstr>
      <vt:lpstr>Ekstazi on Travis CI</vt:lpstr>
      <vt:lpstr>Gitflow Incremental Builder (GIB)</vt:lpstr>
      <vt:lpstr>GIB on Travis CI</vt:lpstr>
      <vt:lpstr>Preliminary: Basic GIB Ineffective</vt:lpstr>
      <vt:lpstr>GIB (modified)</vt:lpstr>
      <vt:lpstr>GIBstazi</vt:lpstr>
      <vt:lpstr>GIBstazi on Travis CI</vt:lpstr>
      <vt:lpstr>Experimental Setup</vt:lpstr>
      <vt:lpstr>RQ1: Tests Selected/RTS Time </vt:lpstr>
      <vt:lpstr>RQ1: Tests Selected/RTS Time</vt:lpstr>
      <vt:lpstr>Why &gt;100% Selection?!</vt:lpstr>
      <vt:lpstr>RQ1: Tests Selected/RTS Time (Filtered)</vt:lpstr>
      <vt:lpstr>Why is Ekstazi Running Slower?</vt:lpstr>
      <vt:lpstr>RQ2: Failing Tests</vt:lpstr>
      <vt:lpstr>RQ2: Failing Tests Results</vt:lpstr>
      <vt:lpstr>No, They’re Flaky!</vt:lpstr>
      <vt:lpstr>RQ2: Failing Tests Results (revisited)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August Shi</dc:creator>
  <cp:lastModifiedBy>August Shi</cp:lastModifiedBy>
  <cp:revision>392</cp:revision>
  <dcterms:created xsi:type="dcterms:W3CDTF">2019-09-26T22:58:51Z</dcterms:created>
  <dcterms:modified xsi:type="dcterms:W3CDTF">2019-11-01T14:34:37Z</dcterms:modified>
</cp:coreProperties>
</file>
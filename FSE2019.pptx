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2"/>
  </p:notesMasterIdLst>
  <p:sldIdLst>
    <p:sldId id="256" r:id="rId2"/>
    <p:sldId id="258" r:id="rId3"/>
    <p:sldId id="270" r:id="rId4"/>
    <p:sldId id="262" r:id="rId5"/>
    <p:sldId id="269" r:id="rId6"/>
    <p:sldId id="261" r:id="rId7"/>
    <p:sldId id="284" r:id="rId8"/>
    <p:sldId id="287" r:id="rId9"/>
    <p:sldId id="293" r:id="rId10"/>
    <p:sldId id="295" r:id="rId11"/>
    <p:sldId id="264" r:id="rId12"/>
    <p:sldId id="294" r:id="rId13"/>
    <p:sldId id="273" r:id="rId14"/>
    <p:sldId id="288" r:id="rId15"/>
    <p:sldId id="265" r:id="rId16"/>
    <p:sldId id="271" r:id="rId17"/>
    <p:sldId id="276" r:id="rId18"/>
    <p:sldId id="266" r:id="rId19"/>
    <p:sldId id="267" r:id="rId20"/>
    <p:sldId id="274" r:id="rId21"/>
    <p:sldId id="282" r:id="rId22"/>
    <p:sldId id="275" r:id="rId23"/>
    <p:sldId id="283" r:id="rId24"/>
    <p:sldId id="268" r:id="rId25"/>
    <p:sldId id="289" r:id="rId26"/>
    <p:sldId id="277" r:id="rId27"/>
    <p:sldId id="278" r:id="rId28"/>
    <p:sldId id="279" r:id="rId29"/>
    <p:sldId id="280" r:id="rId30"/>
    <p:sldId id="281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267" autoAdjust="0"/>
  </p:normalViewPr>
  <p:slideViewPr>
    <p:cSldViewPr snapToGrid="0">
      <p:cViewPr varScale="1">
        <p:scale>
          <a:sx n="61" d="100"/>
          <a:sy n="61" d="100"/>
        </p:scale>
        <p:origin x="14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38423-8BD1-496F-8535-09504FC55C49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20EE6-7280-4B36-9773-14C72B0A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62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EE6-7280-4B36-9773-14C72B0A3C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32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&lt;DEFINE “FIX”&gt;</a:t>
            </a:r>
          </a:p>
          <a:p>
            <a:r>
              <a:rPr lang="en-US" dirty="0" smtClean="0"/>
              <a:t>…While this seems to be a relatively simple case where we can directly</a:t>
            </a:r>
            <a:r>
              <a:rPr lang="en-US" baseline="0" dirty="0" smtClean="0"/>
              <a:t> fix with the relevant state-setter, there is a more complicated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EE6-7280-4B36-9773-14C72B0A3C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54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EE6-7280-4B36-9773-14C72B0A3C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15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&lt;Practice animation sync up of arrow with speaking&gt;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EE6-7280-4B36-9773-14C72B0A3C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66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&lt;at</a:t>
            </a:r>
            <a:r>
              <a:rPr lang="en-US" baseline="0" dirty="0" smtClean="0"/>
              <a:t> least one of each order&gt;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EE6-7280-4B36-9773-14C72B0A3C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19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EE6-7280-4B36-9773-14C72B0A3C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74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EE6-7280-4B36-9773-14C72B0A3C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94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All tests are candidate cleaners</a:t>
            </a:r>
            <a:r>
              <a:rPr lang="en-US" baseline="0" dirty="0" smtClean="0"/>
              <a:t> to try, because it is very important to have them for </a:t>
            </a:r>
            <a:r>
              <a:rPr lang="en-US" baseline="0" dirty="0" err="1" smtClean="0"/>
              <a:t>iFixFlakies</a:t>
            </a:r>
            <a:r>
              <a:rPr lang="en-US" baseline="0" dirty="0" smtClean="0"/>
              <a:t> to work!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EE6-7280-4B36-9773-14C72B0A3C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93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&lt;Not compiling</a:t>
            </a:r>
            <a:r>
              <a:rPr lang="en-US" baseline="0" dirty="0" smtClean="0"/>
              <a:t> is also reason for not accepting code in the middle&gt;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EE6-7280-4B36-9773-14C72B0A3C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83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D20EE6-7280-4B36-9773-14C72B0A3C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D1D9E-4382-4A80-8FF3-4D986FDD6DD8}" type="datetime1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65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9068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90688"/>
            <a:ext cx="9144000" cy="5167311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862AE-15DE-4E52-9AF2-BEF030C2B662}" type="datetime1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71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41EE-10EA-485E-B9E8-DE26825FF96F}" type="datetime1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0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AA569-0107-494E-9138-1509ACBF10D4}" type="datetime1">
              <a:rPr lang="en-US" smtClean="0"/>
              <a:t>9/5/2019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3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64B7-F200-4D73-8697-61C4B70FAD2B}" type="datetime1">
              <a:rPr lang="en-US" smtClean="0"/>
              <a:t>9/5/2019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6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27F7-0EBE-4891-A415-199AF3D383D3}" type="datetime1">
              <a:rPr lang="en-US" smtClean="0"/>
              <a:t>9/5/2019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00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CBB6-906D-4FAF-AC92-02AE1FBBE10C}" type="datetime1">
              <a:rPr lang="en-US" smtClean="0"/>
              <a:t>9/5/2019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9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BDEF-5F12-4B8A-A7A2-FB62C79A636A}" type="datetime1">
              <a:rPr lang="en-US" smtClean="0"/>
              <a:t>9/5/2019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48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848D0-1005-43EE-A9DC-379ECF91B12C}" type="datetime1">
              <a:rPr lang="en-US" smtClean="0"/>
              <a:t>9/5/2019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44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6298B-570A-4043-A0D5-56ED15B7EFD9}" type="datetime1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3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6F747-676E-4228-AB6E-F4F24655AB16}" type="datetime1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990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AA741-50E4-40B8-962A-EFA286BF9021}" type="datetime1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080C1-6851-473A-A83F-21BA85D9B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0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view/ifixflakie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view/ifixflakie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mir.cs.illinois.edu/awshi2/" TargetMode="Externa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509963"/>
          </a:xfrm>
        </p:spPr>
        <p:txBody>
          <a:bodyPr>
            <a:normAutofit/>
          </a:bodyPr>
          <a:lstStyle/>
          <a:p>
            <a:r>
              <a:rPr lang="en-US" dirty="0" err="1" smtClean="0"/>
              <a:t>iFixFlakies</a:t>
            </a:r>
            <a:r>
              <a:rPr lang="en-US" dirty="0" smtClean="0"/>
              <a:t>: A Framework for Automatically Fixing</a:t>
            </a:r>
            <a:br>
              <a:rPr lang="en-US" dirty="0" smtClean="0"/>
            </a:br>
            <a:r>
              <a:rPr lang="en-US" dirty="0" smtClean="0"/>
              <a:t>Order-Dependent Flaky Tests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20509"/>
            <a:ext cx="9144000" cy="2309235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August Shi</a:t>
            </a:r>
            <a:r>
              <a:rPr lang="en-US" sz="2800" dirty="0" smtClean="0"/>
              <a:t>, Wing Lam, Reed Oei, Tao Xie, Darko Marinov</a:t>
            </a:r>
          </a:p>
          <a:p>
            <a:endParaRPr lang="en-US" sz="2800" b="1" dirty="0"/>
          </a:p>
          <a:p>
            <a:r>
              <a:rPr lang="en-US" sz="2800" dirty="0" smtClean="0"/>
              <a:t>ESEC/FSE 2019</a:t>
            </a:r>
          </a:p>
          <a:p>
            <a:r>
              <a:rPr lang="en-US" sz="2800" dirty="0" smtClean="0"/>
              <a:t>Tallinn, Estonia</a:t>
            </a:r>
          </a:p>
          <a:p>
            <a:r>
              <a:rPr lang="en-US" sz="2800" dirty="0" smtClean="0"/>
              <a:t>8/29/2019</a:t>
            </a:r>
            <a:endParaRPr lang="en-US" sz="2800" dirty="0"/>
          </a:p>
        </p:txBody>
      </p:sp>
      <p:pic>
        <p:nvPicPr>
          <p:cNvPr id="5" name="Picture 10" descr="Image result for nsf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02" y="5694836"/>
            <a:ext cx="1125573" cy="1131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futurewe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618" y="6197282"/>
            <a:ext cx="1361068" cy="56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Each letter of &quot;Google&quot; is colored (from left to right) in blue, red, yellow, blue, green, and red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573" y="6337840"/>
            <a:ext cx="1023125" cy="34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Image result for facebook 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983" y="6260564"/>
            <a:ext cx="1171748" cy="44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dl.boxcloud.com/api/2.0/internal_files/209170059076/versions/221189039940/representations/png_paged_2048x2048/content/1.png?access_token=1!NYjegSOgsCNIoY8kXIwHuYmERUvLkwvFehdJ8SFpoXsnvytQ1x7rVPAmDN44gHRILiuP0eMIMjbcMvn2S7PNDQWH9sqajypF2PCUxdicrzWjfoE8__oFcYC6iAj66_wThHa1aeLVOg_GJnOHONjwa-Ji2TUPWUEEjRNFgZpk4cHHbvHBS-6eMGm1_k9Jy-pYDUkjPkrlTptX6odL6Mc65xrJuAAPwa1KOnEVHPy7Hnz7d0D4cSt5f7ONpt-wTqLz-0CV3yokHVWZwA6X5r_54HSudkxpmhmFE5bKGcMe7awWwZ9nITMN5muZtrb1cQfdjVrcNwfJQAohi6xIuqWNaDnB9D6WKp-QvEvb3oxdJor2-Z5vliqGCaZxJBYFff5D5SsuXa4z8IAr1tgVdD4se0VBDcwwG4xQT4w5u3TYAEY0XQi44arAYsGmcscxeMUJXOi2643WR7pK0AU6mdxu&amp;shared_link=https%3A%2F%2Fuofi.app.box.com%2Fv%2FIllinois-Logo&amp;box_client_name=box-content-preview&amp;box_client_version=1.46.0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1410" y="6040713"/>
            <a:ext cx="508000" cy="73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056931" y="5294935"/>
            <a:ext cx="132605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</a:rPr>
              <a:t>CNS-1513939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CNS-1564274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CNS-1646305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CNS-1740916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CCF-1763788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CCF-1816615</a:t>
            </a:r>
          </a:p>
          <a:p>
            <a:r>
              <a:rPr lang="en-US" sz="1400" dirty="0" smtClean="0">
                <a:solidFill>
                  <a:prstClr val="black"/>
                </a:solidFill>
              </a:rPr>
              <a:t>OAC-1839010</a:t>
            </a:r>
            <a:endParaRPr lang="en-US" sz="1400" dirty="0"/>
          </a:p>
        </p:txBody>
      </p:sp>
      <p:pic>
        <p:nvPicPr>
          <p:cNvPr id="1028" name="Picture 4" descr="https://1gew6o3qn6vx9kp3s42ge0y1-wpengine.netdna-ssl.com/wp-content/uploads/2012/08/8867.Microsoft_5F00_Logo_2D00_for_2D00_screen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727" y="6145813"/>
            <a:ext cx="1842903" cy="677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45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Order-Dependent (OD) Flaky Tests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2542" y="2278174"/>
            <a:ext cx="1661165" cy="32547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smtClean="0"/>
              <a:t>Code Under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4572" y="2509546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0</a:t>
            </a:r>
            <a:endParaRPr lang="en-US" sz="2400" dirty="0"/>
          </a:p>
        </p:txBody>
      </p:sp>
      <p:sp>
        <p:nvSpPr>
          <p:cNvPr id="21" name="Rectangle 20"/>
          <p:cNvSpPr/>
          <p:nvPr/>
        </p:nvSpPr>
        <p:spPr>
          <a:xfrm>
            <a:off x="2334570" y="3088258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22" name="Rectangle 21"/>
          <p:cNvSpPr/>
          <p:nvPr/>
        </p:nvSpPr>
        <p:spPr>
          <a:xfrm>
            <a:off x="2334569" y="3666970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2</a:t>
            </a:r>
            <a:endParaRPr lang="en-US" sz="2400" dirty="0"/>
          </a:p>
        </p:txBody>
      </p:sp>
      <p:sp>
        <p:nvSpPr>
          <p:cNvPr id="23" name="Rectangle 22"/>
          <p:cNvSpPr/>
          <p:nvPr/>
        </p:nvSpPr>
        <p:spPr>
          <a:xfrm>
            <a:off x="2334568" y="4824394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test</a:t>
            </a:r>
            <a:r>
              <a:rPr lang="en-US" sz="2400" baseline="-25000" dirty="0" err="1" smtClean="0"/>
              <a:t>n</a:t>
            </a:r>
            <a:endParaRPr lang="en-US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2528531" y="4219555"/>
            <a:ext cx="49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…</a:t>
            </a:r>
            <a:endParaRPr lang="en-US" sz="2400" dirty="0"/>
          </a:p>
        </p:txBody>
      </p:sp>
      <p:sp>
        <p:nvSpPr>
          <p:cNvPr id="25" name="Rectangle 24"/>
          <p:cNvSpPr/>
          <p:nvPr/>
        </p:nvSpPr>
        <p:spPr>
          <a:xfrm>
            <a:off x="4223408" y="2509546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0</a:t>
            </a:r>
            <a:endParaRPr lang="en-US" sz="2400" dirty="0"/>
          </a:p>
        </p:txBody>
      </p:sp>
      <p:sp>
        <p:nvSpPr>
          <p:cNvPr id="26" name="Rectangle 25"/>
          <p:cNvSpPr/>
          <p:nvPr/>
        </p:nvSpPr>
        <p:spPr>
          <a:xfrm>
            <a:off x="4223406" y="3088258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2</a:t>
            </a:r>
            <a:endParaRPr lang="en-US" sz="2400" dirty="0"/>
          </a:p>
        </p:txBody>
      </p:sp>
      <p:sp>
        <p:nvSpPr>
          <p:cNvPr id="27" name="Rectangle 26"/>
          <p:cNvSpPr/>
          <p:nvPr/>
        </p:nvSpPr>
        <p:spPr>
          <a:xfrm>
            <a:off x="4223405" y="3666970"/>
            <a:ext cx="886691" cy="42761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1</a:t>
            </a:r>
            <a:endParaRPr lang="en-US" sz="2400" dirty="0"/>
          </a:p>
        </p:txBody>
      </p:sp>
      <p:sp>
        <p:nvSpPr>
          <p:cNvPr id="28" name="Rectangle 27"/>
          <p:cNvSpPr/>
          <p:nvPr/>
        </p:nvSpPr>
        <p:spPr>
          <a:xfrm>
            <a:off x="4223404" y="4824394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test</a:t>
            </a:r>
            <a:r>
              <a:rPr lang="en-US" sz="2400" baseline="-25000" dirty="0" err="1" smtClean="0"/>
              <a:t>n</a:t>
            </a:r>
            <a:endParaRPr lang="en-US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4417367" y="4219555"/>
            <a:ext cx="49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…</a:t>
            </a:r>
            <a:endParaRPr lang="en-US" sz="2400" dirty="0"/>
          </a:p>
        </p:txBody>
      </p:sp>
      <p:cxnSp>
        <p:nvCxnSpPr>
          <p:cNvPr id="31" name="Straight Arrow Connector 30"/>
          <p:cNvCxnSpPr>
            <a:stCxn id="22" idx="3"/>
            <a:endCxn id="26" idx="1"/>
          </p:cNvCxnSpPr>
          <p:nvPr/>
        </p:nvCxnSpPr>
        <p:spPr>
          <a:xfrm flipV="1">
            <a:off x="3221260" y="3302067"/>
            <a:ext cx="1002146" cy="5787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1" idx="3"/>
            <a:endCxn id="27" idx="1"/>
          </p:cNvCxnSpPr>
          <p:nvPr/>
        </p:nvCxnSpPr>
        <p:spPr>
          <a:xfrm>
            <a:off x="3221261" y="3302067"/>
            <a:ext cx="1002144" cy="5787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flipH="1">
            <a:off x="4224277" y="1331499"/>
            <a:ext cx="4928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JUnit tests ran in different order after upgrading Java 6 to 7</a:t>
            </a:r>
            <a:r>
              <a:rPr lang="en-US" sz="2400" baseline="30000" dirty="0" smtClean="0"/>
              <a:t>1,2,3</a:t>
            </a:r>
            <a:endParaRPr lang="en-US" sz="2400" dirty="0"/>
          </a:p>
        </p:txBody>
      </p:sp>
      <p:sp>
        <p:nvSpPr>
          <p:cNvPr id="38" name="TextBox 37"/>
          <p:cNvSpPr txBox="1"/>
          <p:nvPr/>
        </p:nvSpPr>
        <p:spPr>
          <a:xfrm flipH="1">
            <a:off x="5248340" y="2398926"/>
            <a:ext cx="38956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Regression testing techniques</a:t>
            </a:r>
          </a:p>
          <a:p>
            <a:r>
              <a:rPr lang="en-US" sz="2400" dirty="0" smtClean="0"/>
              <a:t>(prioritization, selection, </a:t>
            </a:r>
            <a:r>
              <a:rPr lang="en-US" sz="2400" dirty="0" err="1" smtClean="0"/>
              <a:t>etc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can lead to different orders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6030094"/>
            <a:ext cx="70329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aseline="30000" dirty="0" smtClean="0"/>
              <a:t>1</a:t>
            </a:r>
            <a:r>
              <a:rPr lang="en-US" sz="1600" dirty="0" smtClean="0"/>
              <a:t>http</a:t>
            </a:r>
            <a:r>
              <a:rPr lang="en-US" sz="1600" dirty="0"/>
              <a:t>://</a:t>
            </a:r>
            <a:r>
              <a:rPr lang="en-US" sz="1600" dirty="0" smtClean="0"/>
              <a:t>intellijava.blogspot.com/2012/05/junit-and-java-7.html</a:t>
            </a:r>
          </a:p>
          <a:p>
            <a:r>
              <a:rPr lang="en-US" sz="1600" baseline="30000" dirty="0" smtClean="0"/>
              <a:t>2</a:t>
            </a:r>
            <a:r>
              <a:rPr lang="en-US" sz="1600" dirty="0" smtClean="0"/>
              <a:t>http</a:t>
            </a:r>
            <a:r>
              <a:rPr lang="en-US" sz="1600" dirty="0"/>
              <a:t>://www.java-allandsundry.com/2013/01</a:t>
            </a:r>
            <a:r>
              <a:rPr lang="en-US" sz="1600" dirty="0" smtClean="0"/>
              <a:t>/</a:t>
            </a:r>
          </a:p>
          <a:p>
            <a:r>
              <a:rPr lang="en-US" sz="1600" baseline="30000" dirty="0" smtClean="0"/>
              <a:t>3</a:t>
            </a:r>
            <a:r>
              <a:rPr lang="en-US" sz="1600" dirty="0" smtClean="0"/>
              <a:t>https</a:t>
            </a:r>
            <a:r>
              <a:rPr lang="en-US" sz="1600" dirty="0"/>
              <a:t>://</a:t>
            </a:r>
            <a:r>
              <a:rPr lang="en-US" sz="1600" dirty="0" smtClean="0"/>
              <a:t>coderanch.com/t/600985/engineering/Maintaining-order-JUnit-tests-JDK </a:t>
            </a:r>
            <a:endParaRPr lang="en-US" sz="1600" dirty="0"/>
          </a:p>
        </p:txBody>
      </p:sp>
      <p:sp>
        <p:nvSpPr>
          <p:cNvPr id="34" name="Rectangle 33"/>
          <p:cNvSpPr/>
          <p:nvPr/>
        </p:nvSpPr>
        <p:spPr>
          <a:xfrm>
            <a:off x="4223403" y="2509546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0</a:t>
            </a:r>
            <a:endParaRPr lang="en-US" sz="2400" dirty="0"/>
          </a:p>
        </p:txBody>
      </p:sp>
      <p:sp>
        <p:nvSpPr>
          <p:cNvPr id="35" name="Rectangle 34"/>
          <p:cNvSpPr/>
          <p:nvPr/>
        </p:nvSpPr>
        <p:spPr>
          <a:xfrm>
            <a:off x="4223401" y="3088258"/>
            <a:ext cx="886691" cy="42761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2</a:t>
            </a:r>
            <a:endParaRPr lang="en-US" sz="2400" dirty="0"/>
          </a:p>
        </p:txBody>
      </p:sp>
      <p:sp>
        <p:nvSpPr>
          <p:cNvPr id="36" name="Rectangle 35"/>
          <p:cNvSpPr/>
          <p:nvPr/>
        </p:nvSpPr>
        <p:spPr>
          <a:xfrm>
            <a:off x="4223400" y="3666970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1</a:t>
            </a:r>
            <a:endParaRPr lang="en-US" sz="2400" dirty="0"/>
          </a:p>
        </p:txBody>
      </p:sp>
      <p:sp>
        <p:nvSpPr>
          <p:cNvPr id="39" name="Rectangle 38"/>
          <p:cNvSpPr/>
          <p:nvPr/>
        </p:nvSpPr>
        <p:spPr>
          <a:xfrm>
            <a:off x="4223399" y="4824394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/>
              <a:t>test</a:t>
            </a:r>
            <a:r>
              <a:rPr lang="en-US" sz="2400" baseline="-25000" dirty="0" err="1" smtClean="0"/>
              <a:t>n</a:t>
            </a:r>
            <a:endParaRPr lang="en-US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4417362" y="4219555"/>
            <a:ext cx="498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…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-8360" y="1335098"/>
            <a:ext cx="4193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Cannot always have same order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9026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/>
      <p:bldP spid="37" grpId="0"/>
      <p:bldP spid="38" grpId="0"/>
      <p:bldP spid="3" grpId="0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9" grpId="0" animBg="1"/>
      <p:bldP spid="39" grpId="1" animBg="1"/>
      <p:bldP spid="40" grpId="0"/>
      <p:bldP spid="40" grpId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 (from </a:t>
            </a:r>
            <a:r>
              <a:rPr lang="en-US" dirty="0" err="1" smtClean="0"/>
              <a:t>WildFly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-1" y="1360617"/>
            <a:ext cx="914400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WritableServiceBasedNamingStoreTestCase</a:t>
            </a:r>
            <a:r>
              <a:rPr lang="en-US" sz="1600" dirty="0" smtClean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  @Test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testBind</a:t>
            </a:r>
            <a:r>
              <a:rPr lang="en-US" sz="1600" dirty="0" smtClean="0">
                <a:latin typeface="Consolas" panose="020B0609020204030204" pitchFamily="49" charset="0"/>
              </a:rPr>
              <a:t>()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 smtClean="0">
                <a:latin typeface="Consolas" panose="020B0609020204030204" pitchFamily="49" charset="0"/>
              </a:rPr>
              <a:t> Exception {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final</a:t>
            </a:r>
            <a:r>
              <a:rPr lang="en-US" sz="1600" dirty="0" smtClean="0">
                <a:latin typeface="Consolas" panose="020B0609020204030204" pitchFamily="49" charset="0"/>
              </a:rPr>
              <a:t> Name </a:t>
            </a:r>
            <a:r>
              <a:rPr lang="en-US" sz="1600" dirty="0" err="1" smtClean="0">
                <a:latin typeface="Consolas" panose="020B0609020204030204" pitchFamily="49" charset="0"/>
              </a:rPr>
              <a:t>name</a:t>
            </a:r>
            <a:r>
              <a:rPr lang="en-US" sz="1600" dirty="0" smtClean="0">
                <a:latin typeface="Consolas" panose="020B0609020204030204" pitchFamily="49" charset="0"/>
              </a:rPr>
              <a:t> = new </a:t>
            </a:r>
            <a:r>
              <a:rPr lang="en-US" sz="1600" dirty="0" err="1" smtClean="0">
                <a:latin typeface="Consolas" panose="020B0609020204030204" pitchFamily="49" charset="0"/>
              </a:rPr>
              <a:t>CompositeName</a:t>
            </a:r>
            <a:r>
              <a:rPr lang="en-US" sz="1600" dirty="0" smtClean="0">
                <a:latin typeface="Consolas" panose="020B0609020204030204" pitchFamily="49" charset="0"/>
              </a:rPr>
              <a:t>(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“test”</a:t>
            </a:r>
            <a:r>
              <a:rPr lang="en-US" sz="16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final</a:t>
            </a:r>
            <a:r>
              <a:rPr lang="en-US" sz="1600" dirty="0" smtClean="0">
                <a:latin typeface="Consolas" panose="020B0609020204030204" pitchFamily="49" charset="0"/>
              </a:rPr>
              <a:t> Object value =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 smtClean="0">
                <a:latin typeface="Consolas" panose="020B0609020204030204" pitchFamily="49" charset="0"/>
              </a:rPr>
              <a:t> Object();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...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</a:t>
            </a:r>
            <a:r>
              <a:rPr lang="en-US" sz="1600" dirty="0" err="1" smtClean="0">
                <a:latin typeface="Consolas" panose="020B0609020204030204" pitchFamily="49" charset="0"/>
              </a:rPr>
              <a:t>assertEquals</a:t>
            </a:r>
            <a:r>
              <a:rPr lang="en-US" sz="1600" dirty="0" smtClean="0">
                <a:latin typeface="Consolas" panose="020B0609020204030204" pitchFamily="49" charset="0"/>
              </a:rPr>
              <a:t>(value, </a:t>
            </a:r>
            <a:r>
              <a:rPr lang="en-US" sz="1600" dirty="0" err="1" smtClean="0">
                <a:latin typeface="Consolas" panose="020B0609020204030204" pitchFamily="49" charset="0"/>
              </a:rPr>
              <a:t>store.lookup</a:t>
            </a:r>
            <a:r>
              <a:rPr lang="en-US" sz="1600" dirty="0" smtClean="0">
                <a:latin typeface="Consolas" panose="020B0609020204030204" pitchFamily="49" charset="0"/>
              </a:rPr>
              <a:t>(name));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}</a:t>
            </a:r>
          </a:p>
          <a:p>
            <a:r>
              <a:rPr lang="en-US" sz="1600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  @</a:t>
            </a:r>
            <a:r>
              <a:rPr lang="en-US" sz="1600" dirty="0">
                <a:solidFill>
                  <a:schemeClr val="accent6"/>
                </a:solidFill>
                <a:latin typeface="Consolas" panose="020B0609020204030204" pitchFamily="49" charset="0"/>
              </a:rPr>
              <a:t>Test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testPermissions</a:t>
            </a:r>
            <a:r>
              <a:rPr lang="en-US" sz="1600" dirty="0">
                <a:latin typeface="Consolas" panose="020B0609020204030204" pitchFamily="49" charset="0"/>
              </a:rPr>
              <a:t>()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throws</a:t>
            </a:r>
            <a:r>
              <a:rPr lang="en-US" sz="1600" dirty="0">
                <a:latin typeface="Consolas" panose="020B0609020204030204" pitchFamily="49" charset="0"/>
              </a:rPr>
              <a:t> Exception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...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final</a:t>
            </a:r>
            <a:r>
              <a:rPr lang="en-US" sz="1600" dirty="0">
                <a:latin typeface="Consolas" panose="020B0609020204030204" pitchFamily="49" charset="0"/>
              </a:rPr>
              <a:t> String name = 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</a:rPr>
              <a:t>“a/b”</a:t>
            </a:r>
            <a:r>
              <a:rPr lang="en-US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final</a:t>
            </a:r>
            <a:r>
              <a:rPr lang="en-US" sz="1600" dirty="0">
                <a:latin typeface="Consolas" panose="020B0609020204030204" pitchFamily="49" charset="0"/>
              </a:rPr>
              <a:t> Object value =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new</a:t>
            </a:r>
            <a:r>
              <a:rPr lang="en-US" sz="1600" dirty="0">
                <a:latin typeface="Consolas" panose="020B0609020204030204" pitchFamily="49" charset="0"/>
              </a:rPr>
              <a:t> Object();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...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store.bind</a:t>
            </a:r>
            <a:r>
              <a:rPr lang="en-US" sz="1600" dirty="0">
                <a:latin typeface="Consolas" panose="020B0609020204030204" pitchFamily="49" charset="0"/>
              </a:rPr>
              <a:t>(new </a:t>
            </a:r>
            <a:r>
              <a:rPr lang="en-US" sz="1600" dirty="0" err="1">
                <a:latin typeface="Consolas" panose="020B0609020204030204" pitchFamily="49" charset="0"/>
              </a:rPr>
              <a:t>CompositeName</a:t>
            </a:r>
            <a:r>
              <a:rPr lang="en-US" sz="1600" dirty="0">
                <a:latin typeface="Consolas" panose="020B0609020204030204" pitchFamily="49" charset="0"/>
              </a:rPr>
              <a:t>(name), value);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...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smtClean="0"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en-US" sz="1600" dirty="0" smtClean="0"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86219" y="6059860"/>
            <a:ext cx="2909434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testBind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4590288" y="5442286"/>
            <a:ext cx="2909433" cy="4757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testPermissions</a:t>
            </a:r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649224" y="6059860"/>
            <a:ext cx="2909434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testPermissions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5580992" y="1645252"/>
            <a:ext cx="35156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State-Setter</a:t>
            </a:r>
            <a:endParaRPr lang="en-US" sz="2400" b="1" dirty="0"/>
          </a:p>
          <a:p>
            <a:pPr algn="ctr"/>
            <a:r>
              <a:rPr lang="en-US" sz="2000" dirty="0" smtClean="0"/>
              <a:t>Makes brittle pass if run 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5844" y="3740123"/>
            <a:ext cx="32476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Brittle</a:t>
            </a:r>
          </a:p>
          <a:p>
            <a:pPr algn="ctr"/>
            <a:r>
              <a:rPr lang="en-US" sz="2000" dirty="0" smtClean="0"/>
              <a:t>Fails if run before state-setter</a:t>
            </a:r>
            <a:endParaRPr lang="en-US" sz="2000" dirty="0"/>
          </a:p>
        </p:txBody>
      </p:sp>
      <p:cxnSp>
        <p:nvCxnSpPr>
          <p:cNvPr id="15" name="Straight Arrow Connector 14"/>
          <p:cNvCxnSpPr>
            <a:stCxn id="19" idx="1"/>
            <a:endCxn id="29" idx="3"/>
          </p:cNvCxnSpPr>
          <p:nvPr/>
        </p:nvCxnSpPr>
        <p:spPr>
          <a:xfrm flipH="1" flipV="1">
            <a:off x="5533650" y="2441870"/>
            <a:ext cx="855317" cy="5645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88967" y="2806315"/>
            <a:ext cx="2707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State-setter has a fix!</a:t>
            </a:r>
            <a:endParaRPr lang="en-US" sz="2000" dirty="0"/>
          </a:p>
        </p:txBody>
      </p:sp>
      <p:sp>
        <p:nvSpPr>
          <p:cNvPr id="14" name="Oval 13"/>
          <p:cNvSpPr/>
          <p:nvPr/>
        </p:nvSpPr>
        <p:spPr>
          <a:xfrm>
            <a:off x="1987929" y="3006370"/>
            <a:ext cx="2026510" cy="5807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008454" y="1498443"/>
            <a:ext cx="1564083" cy="5807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49224" y="5438233"/>
            <a:ext cx="2909434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testBind</a:t>
            </a:r>
            <a:endParaRPr lang="en-US" sz="1600" dirty="0"/>
          </a:p>
        </p:txBody>
      </p:sp>
      <p:cxnSp>
        <p:nvCxnSpPr>
          <p:cNvPr id="22" name="Straight Arrow Connector 21"/>
          <p:cNvCxnSpPr>
            <a:stCxn id="9" idx="3"/>
            <a:endCxn id="8" idx="1"/>
          </p:cNvCxnSpPr>
          <p:nvPr/>
        </p:nvCxnSpPr>
        <p:spPr>
          <a:xfrm flipV="1">
            <a:off x="3558658" y="5680167"/>
            <a:ext cx="1031630" cy="6175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7" idx="3"/>
            <a:endCxn id="7" idx="1"/>
          </p:cNvCxnSpPr>
          <p:nvPr/>
        </p:nvCxnSpPr>
        <p:spPr>
          <a:xfrm>
            <a:off x="3558658" y="5676114"/>
            <a:ext cx="1027561" cy="6216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 rot="20610539">
            <a:off x="2231136" y="5495544"/>
            <a:ext cx="4203178" cy="69068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How to Fix?</a:t>
            </a:r>
            <a:endParaRPr lang="en-US" sz="4800" dirty="0"/>
          </a:p>
        </p:txBody>
      </p:sp>
      <p:sp>
        <p:nvSpPr>
          <p:cNvPr id="29" name="Rectangle 28"/>
          <p:cNvSpPr/>
          <p:nvPr/>
        </p:nvSpPr>
        <p:spPr>
          <a:xfrm>
            <a:off x="374035" y="1850711"/>
            <a:ext cx="5159615" cy="11823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04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/>
      <p:bldP spid="13" grpId="0"/>
      <p:bldP spid="19" grpId="0"/>
      <p:bldP spid="14" grpId="0" animBg="1"/>
      <p:bldP spid="14" grpId="1" animBg="1"/>
      <p:bldP spid="16" grpId="0" animBg="1"/>
      <p:bldP spid="16" grpId="1" animBg="1"/>
      <p:bldP spid="1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 (from </a:t>
            </a:r>
            <a:r>
              <a:rPr lang="en-US" dirty="0" err="1" smtClean="0"/>
              <a:t>ElasticJob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-1" y="1360617"/>
            <a:ext cx="914400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ShutdownListenerManagerTest</a:t>
            </a:r>
            <a:r>
              <a:rPr lang="en-US" sz="1600" dirty="0" smtClean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  @Test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assertIsShutdownAlready</a:t>
            </a:r>
            <a:r>
              <a:rPr lang="en-US" sz="1600" dirty="0"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</a:rPr>
              <a:t>shutdownListenerManager.new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InstanceShutdownStatusJobListener</a:t>
            </a:r>
            <a:r>
              <a:rPr lang="en-US" sz="16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  </a:t>
            </a:r>
            <a:r>
              <a:rPr lang="en-US" sz="1600" dirty="0" err="1">
                <a:latin typeface="Consolas" panose="020B0609020204030204" pitchFamily="49" charset="0"/>
              </a:rPr>
              <a:t>dataChanged</a:t>
            </a:r>
            <a:r>
              <a:rPr lang="en-US" sz="1600" dirty="0" smtClean="0">
                <a:latin typeface="Consolas" panose="020B0609020204030204" pitchFamily="49" charset="0"/>
              </a:rPr>
              <a:t>(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(“/</a:t>
            </a:r>
            <a:r>
              <a:rPr lang="en-US" sz="16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test_job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/instances/127.0.0.1 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</a:rPr>
              <a:t>@ - @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0”</a:t>
            </a:r>
            <a:r>
              <a:rPr lang="en-US" sz="1600" dirty="0" smtClean="0">
                <a:latin typeface="Consolas" panose="020B0609020204030204" pitchFamily="49" charset="0"/>
              </a:rPr>
              <a:t>, ...));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verify(</a:t>
            </a:r>
            <a:r>
              <a:rPr lang="en-US" sz="1600" dirty="0" err="1">
                <a:latin typeface="Consolas" panose="020B0609020204030204" pitchFamily="49" charset="0"/>
              </a:rPr>
              <a:t>schedulerFacade</a:t>
            </a:r>
            <a:r>
              <a:rPr lang="en-US" sz="1600" dirty="0">
                <a:latin typeface="Consolas" panose="020B0609020204030204" pitchFamily="49" charset="0"/>
              </a:rPr>
              <a:t>, times(0)).</a:t>
            </a:r>
            <a:r>
              <a:rPr lang="en-US" sz="1600" dirty="0" err="1">
                <a:latin typeface="Consolas" panose="020B0609020204030204" pitchFamily="49" charset="0"/>
              </a:rPr>
              <a:t>shutdownInstance</a:t>
            </a:r>
            <a:r>
              <a:rPr lang="en-US" sz="16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}</a:t>
            </a:r>
          </a:p>
          <a:p>
            <a:endParaRPr lang="en-US" sz="1600" dirty="0" smtClean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@Test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assertRemoveLocalInstancePath</a:t>
            </a:r>
            <a:r>
              <a:rPr lang="en-US" sz="1600" dirty="0" smtClean="0"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 </a:t>
            </a:r>
            <a:r>
              <a:rPr lang="en-US" sz="1600" dirty="0" err="1" smtClean="0">
                <a:latin typeface="Consolas" panose="020B0609020204030204" pitchFamily="49" charset="0"/>
              </a:rPr>
              <a:t>JobRegistry.getInstance</a:t>
            </a:r>
            <a:r>
              <a:rPr lang="en-US" sz="1600" dirty="0" smtClean="0">
                <a:latin typeface="Consolas" panose="020B0609020204030204" pitchFamily="49" charset="0"/>
              </a:rPr>
              <a:t>().</a:t>
            </a:r>
            <a:r>
              <a:rPr lang="en-US" sz="1600" dirty="0" err="1" smtClean="0">
                <a:latin typeface="Consolas" panose="020B0609020204030204" pitchFamily="49" charset="0"/>
              </a:rPr>
              <a:t>registerJob</a:t>
            </a:r>
            <a:r>
              <a:rPr lang="en-US" sz="1600" dirty="0" smtClean="0">
                <a:latin typeface="Consolas" panose="020B0609020204030204" pitchFamily="49" charset="0"/>
              </a:rPr>
              <a:t>(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“</a:t>
            </a:r>
            <a:r>
              <a:rPr lang="en-US" sz="16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test_job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”</a:t>
            </a:r>
            <a:r>
              <a:rPr lang="en-US" sz="1600" dirty="0" smtClean="0">
                <a:latin typeface="Consolas" panose="020B0609020204030204" pitchFamily="49" charset="0"/>
              </a:rPr>
              <a:t>, …);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</a:t>
            </a:r>
            <a:r>
              <a:rPr lang="en-US" sz="1600" dirty="0" err="1" smtClean="0">
                <a:latin typeface="Consolas" panose="020B0609020204030204" pitchFamily="49" charset="0"/>
              </a:rPr>
              <a:t>shutdownListenerManager.new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InstanceShutdownStatusJobListener</a:t>
            </a:r>
            <a:r>
              <a:rPr lang="en-US" sz="1600" dirty="0" smtClean="0">
                <a:latin typeface="Consolas" panose="020B0609020204030204" pitchFamily="49" charset="0"/>
              </a:rPr>
              <a:t>().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</a:rPr>
              <a:t>dataChanged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</a:rPr>
              <a:t>(“/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</a:rPr>
              <a:t>test_job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</a:rPr>
              <a:t>/instances/127.0.0.1 @ - @0”</a:t>
            </a:r>
            <a:r>
              <a:rPr lang="en-US" sz="1600" dirty="0">
                <a:latin typeface="Consolas" panose="020B0609020204030204" pitchFamily="49" charset="0"/>
              </a:rPr>
              <a:t>, ...));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 verify(</a:t>
            </a:r>
            <a:r>
              <a:rPr lang="en-US" sz="1600" dirty="0" err="1" smtClean="0">
                <a:latin typeface="Consolas" panose="020B0609020204030204" pitchFamily="49" charset="0"/>
              </a:rPr>
              <a:t>schedulerFacade</a:t>
            </a:r>
            <a:r>
              <a:rPr lang="en-US" sz="1600" dirty="0" smtClean="0">
                <a:latin typeface="Consolas" panose="020B0609020204030204" pitchFamily="49" charset="0"/>
              </a:rPr>
              <a:t>).</a:t>
            </a:r>
            <a:r>
              <a:rPr lang="en-US" sz="1600" dirty="0" err="1" smtClean="0">
                <a:latin typeface="Consolas" panose="020B0609020204030204" pitchFamily="49" charset="0"/>
              </a:rPr>
              <a:t>shutdownInstance</a:t>
            </a:r>
            <a:r>
              <a:rPr lang="en-US" sz="1600" dirty="0" smtClean="0">
                <a:latin typeface="Consolas" panose="020B06090202040302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  <a:endParaRPr lang="en-US" sz="1600" dirty="0" smtClean="0">
              <a:latin typeface="Consolas" panose="020B06090202040302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89229" y="5440680"/>
            <a:ext cx="2909434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assertRemoveLocalInstancePath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649224" y="5440680"/>
            <a:ext cx="2909434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assertIsShutdownAlready</a:t>
            </a:r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4589230" y="6062472"/>
            <a:ext cx="2909433" cy="4757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assertIsShutdownAlready</a:t>
            </a:r>
            <a:endParaRPr 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649224" y="6062472"/>
            <a:ext cx="2909434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assertRemoveLocalInstancePath</a:t>
            </a:r>
            <a:endParaRPr lang="en-US" sz="1600" dirty="0"/>
          </a:p>
        </p:txBody>
      </p:sp>
      <p:sp>
        <p:nvSpPr>
          <p:cNvPr id="14" name="Oval 13"/>
          <p:cNvSpPr/>
          <p:nvPr/>
        </p:nvSpPr>
        <p:spPr>
          <a:xfrm>
            <a:off x="4589229" y="3203218"/>
            <a:ext cx="1454717" cy="5807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078901" y="2002226"/>
            <a:ext cx="1454717" cy="5807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783693" y="4085762"/>
            <a:ext cx="33951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Polluter</a:t>
            </a:r>
          </a:p>
          <a:p>
            <a:pPr algn="ctr"/>
            <a:r>
              <a:rPr lang="en-US" sz="2000" dirty="0" smtClean="0"/>
              <a:t>Makes victim fail if run before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6115875" y="2281865"/>
            <a:ext cx="27307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Victim</a:t>
            </a:r>
          </a:p>
          <a:p>
            <a:pPr algn="ctr"/>
            <a:r>
              <a:rPr lang="en-US" sz="2000" dirty="0" smtClean="0"/>
              <a:t>Fails if run after polluter</a:t>
            </a:r>
            <a:endParaRPr lang="en-US" sz="2000" dirty="0"/>
          </a:p>
        </p:txBody>
      </p:sp>
      <p:sp>
        <p:nvSpPr>
          <p:cNvPr id="19" name="Oval 18"/>
          <p:cNvSpPr/>
          <p:nvPr/>
        </p:nvSpPr>
        <p:spPr>
          <a:xfrm>
            <a:off x="2219669" y="1489574"/>
            <a:ext cx="3019735" cy="5807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2298844" y="2925598"/>
            <a:ext cx="3484849" cy="5807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10" idx="3"/>
            <a:endCxn id="11" idx="1"/>
          </p:cNvCxnSpPr>
          <p:nvPr/>
        </p:nvCxnSpPr>
        <p:spPr>
          <a:xfrm>
            <a:off x="3558658" y="5678561"/>
            <a:ext cx="1030572" cy="6217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2" idx="3"/>
            <a:endCxn id="9" idx="1"/>
          </p:cNvCxnSpPr>
          <p:nvPr/>
        </p:nvCxnSpPr>
        <p:spPr>
          <a:xfrm flipV="1">
            <a:off x="3558658" y="5678561"/>
            <a:ext cx="1030571" cy="6217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 rot="20610539">
            <a:off x="2231249" y="5499518"/>
            <a:ext cx="4203178" cy="69068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 smtClean="0"/>
              <a:t>How to Fix?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6850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/>
      <p:bldP spid="17" grpId="0"/>
      <p:bldP spid="19" grpId="0" animBg="1"/>
      <p:bldP spid="19" grpId="1" animBg="1"/>
      <p:bldP spid="20" grpId="0" animBg="1"/>
      <p:bldP spid="20" grpId="1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Fix is also in the Test Suite!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1" y="1360617"/>
            <a:ext cx="91440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FailoverServiceTest</a:t>
            </a:r>
            <a:r>
              <a:rPr lang="en-US" sz="1600" dirty="0" smtClean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@Test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assertGetFailoverItems</a:t>
            </a:r>
            <a:r>
              <a:rPr lang="en-US" sz="1600" dirty="0" smtClean="0"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 </a:t>
            </a:r>
            <a:r>
              <a:rPr lang="en-US" sz="1600" dirty="0" err="1" smtClean="0">
                <a:latin typeface="Consolas" panose="020B0609020204030204" pitchFamily="49" charset="0"/>
              </a:rPr>
              <a:t>JobRegistry.getInstance</a:t>
            </a:r>
            <a:r>
              <a:rPr lang="en-US" sz="1600" dirty="0" smtClean="0">
                <a:latin typeface="Consolas" panose="020B0609020204030204" pitchFamily="49" charset="0"/>
              </a:rPr>
              <a:t>().</a:t>
            </a:r>
            <a:r>
              <a:rPr lang="en-US" sz="1600" dirty="0" err="1" smtClean="0">
                <a:latin typeface="Consolas" panose="020B0609020204030204" pitchFamily="49" charset="0"/>
              </a:rPr>
              <a:t>registerJob</a:t>
            </a:r>
            <a:r>
              <a:rPr lang="en-US" sz="1600" dirty="0" smtClean="0">
                <a:latin typeface="Consolas" panose="020B0609020204030204" pitchFamily="49" charset="0"/>
              </a:rPr>
              <a:t>(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“</a:t>
            </a:r>
            <a:r>
              <a:rPr lang="en-US" sz="16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test_job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”</a:t>
            </a:r>
            <a:r>
              <a:rPr lang="en-US" sz="1600" dirty="0" smtClean="0">
                <a:latin typeface="Consolas" panose="020B0609020204030204" pitchFamily="49" charset="0"/>
              </a:rPr>
              <a:t>, ...);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jobNodeStorage.getJobNodeChildrenKeys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 smtClean="0">
                <a:latin typeface="Consolas" panose="020B0609020204030204" pitchFamily="49" charset="0"/>
              </a:rPr>
              <a:t>(...));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 smtClean="0">
                <a:latin typeface="Consolas" panose="020B0609020204030204" pitchFamily="49" charset="0"/>
              </a:rPr>
              <a:t>assertThat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getJobNodeChildrenKeys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 </a:t>
            </a:r>
            <a:r>
              <a:rPr lang="en-US" sz="1600" dirty="0" err="1" smtClean="0">
                <a:latin typeface="Consolas" panose="020B0609020204030204" pitchFamily="49" charset="0"/>
              </a:rPr>
              <a:t>JobRegistry.getInstance</a:t>
            </a:r>
            <a:r>
              <a:rPr lang="en-US" sz="1600" dirty="0" smtClean="0">
                <a:latin typeface="Consolas" panose="020B0609020204030204" pitchFamily="49" charset="0"/>
              </a:rPr>
              <a:t>().shutdown(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“</a:t>
            </a:r>
            <a:r>
              <a:rPr lang="en-US" sz="16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test_job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”</a:t>
            </a:r>
            <a:r>
              <a:rPr lang="en-US" sz="16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}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" y="5440680"/>
            <a:ext cx="2909434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ShutdownListenerManagerTest</a:t>
            </a:r>
            <a:r>
              <a:rPr lang="en-US" sz="1600" dirty="0" smtClean="0"/>
              <a:t>.</a:t>
            </a:r>
          </a:p>
          <a:p>
            <a:pPr algn="ctr"/>
            <a:r>
              <a:rPr lang="en-US" sz="1600" dirty="0" err="1" smtClean="0"/>
              <a:t>assertRemoveLocalInstancePath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4207883" y="5735821"/>
            <a:ext cx="2909434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FailoverServiceTest</a:t>
            </a:r>
            <a:r>
              <a:rPr lang="en-US" sz="1600" dirty="0" smtClean="0"/>
              <a:t>.</a:t>
            </a:r>
          </a:p>
          <a:p>
            <a:pPr algn="ctr"/>
            <a:r>
              <a:rPr lang="en-US" sz="1600" dirty="0" err="1" smtClean="0"/>
              <a:t>assertGetFailoverItems</a:t>
            </a:r>
            <a:endParaRPr 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649225" y="6062472"/>
            <a:ext cx="2909433" cy="4757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ShutdownListenerManagerTest</a:t>
            </a:r>
            <a:r>
              <a:rPr lang="en-US" sz="1600" dirty="0" smtClean="0"/>
              <a:t>.</a:t>
            </a:r>
          </a:p>
          <a:p>
            <a:pPr algn="ctr"/>
            <a:r>
              <a:rPr lang="en-US" sz="1600" dirty="0" err="1" smtClean="0"/>
              <a:t>assertIsShutdownAlready</a:t>
            </a:r>
            <a:endParaRPr lang="en-US" sz="1600" dirty="0"/>
          </a:p>
        </p:txBody>
      </p:sp>
      <p:sp>
        <p:nvSpPr>
          <p:cNvPr id="17" name="Rectangle 16"/>
          <p:cNvSpPr/>
          <p:nvPr/>
        </p:nvSpPr>
        <p:spPr>
          <a:xfrm>
            <a:off x="489696" y="5041310"/>
            <a:ext cx="5537020" cy="336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>
            <a:stCxn id="15" idx="1"/>
          </p:cNvCxnSpPr>
          <p:nvPr/>
        </p:nvCxnSpPr>
        <p:spPr>
          <a:xfrm flipH="1">
            <a:off x="3558658" y="5973702"/>
            <a:ext cx="6492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9224" y="6062472"/>
            <a:ext cx="2909433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ShutdownListenerManagerTest</a:t>
            </a:r>
            <a:r>
              <a:rPr lang="en-US" sz="1600" dirty="0" smtClean="0"/>
              <a:t>.</a:t>
            </a:r>
          </a:p>
          <a:p>
            <a:pPr algn="ctr"/>
            <a:r>
              <a:rPr lang="en-US" sz="1600" dirty="0" err="1" smtClean="0"/>
              <a:t>assertIsShutdownAlready</a:t>
            </a:r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5057289" y="790498"/>
            <a:ext cx="41200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Cleaner</a:t>
            </a:r>
          </a:p>
          <a:p>
            <a:pPr algn="ctr"/>
            <a:r>
              <a:rPr lang="en-US" sz="2000" dirty="0" smtClean="0"/>
              <a:t>Makes victim pass when run between</a:t>
            </a:r>
          </a:p>
          <a:p>
            <a:pPr algn="ctr"/>
            <a:r>
              <a:rPr lang="en-US" sz="2000" dirty="0" smtClean="0"/>
              <a:t>polluter and victim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220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animBg="1"/>
      <p:bldP spid="15" grpId="0" animBg="1"/>
      <p:bldP spid="16" grpId="0" animBg="1"/>
      <p:bldP spid="17" grpId="0" animBg="1"/>
      <p:bldP spid="13" grpId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iFixFlakies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Test suites often already have logic for setting/resetting state for OD tests!</a:t>
            </a:r>
          </a:p>
          <a:p>
            <a:r>
              <a:rPr lang="en-US" dirty="0" smtClean="0"/>
              <a:t>We can fix OD tests by using the code the test suites already have</a:t>
            </a:r>
          </a:p>
          <a:p>
            <a:r>
              <a:rPr lang="en-US" dirty="0" err="1" smtClean="0"/>
              <a:t>iFixFlakies</a:t>
            </a:r>
            <a:r>
              <a:rPr lang="en-US" dirty="0" smtClean="0"/>
              <a:t> automates this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544600" y="5126337"/>
            <a:ext cx="6054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hlinkClick r:id="rId2"/>
              </a:rPr>
              <a:t>https://sites.google.com/view/ifixflakies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5370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iFixFlakies</a:t>
            </a:r>
            <a:r>
              <a:rPr lang="en-US" dirty="0" smtClean="0"/>
              <a:t>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93979" y="2024883"/>
            <a:ext cx="3747951" cy="4234592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/>
          </a:p>
        </p:txBody>
      </p:sp>
      <p:grpSp>
        <p:nvGrpSpPr>
          <p:cNvPr id="40" name="Group 39"/>
          <p:cNvGrpSpPr/>
          <p:nvPr/>
        </p:nvGrpSpPr>
        <p:grpSpPr>
          <a:xfrm>
            <a:off x="7486650" y="3187904"/>
            <a:ext cx="1589854" cy="1612123"/>
            <a:chOff x="7377600" y="2278855"/>
            <a:chExt cx="1589854" cy="1612123"/>
          </a:xfrm>
        </p:grpSpPr>
        <p:sp>
          <p:nvSpPr>
            <p:cNvPr id="27" name="Rectangle 26"/>
            <p:cNvSpPr/>
            <p:nvPr/>
          </p:nvSpPr>
          <p:spPr>
            <a:xfrm>
              <a:off x="7900654" y="2278855"/>
              <a:ext cx="1066800" cy="1185492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684838" y="2525598"/>
              <a:ext cx="1066800" cy="118549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377600" y="2705486"/>
              <a:ext cx="1066800" cy="1185492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" name="Straight Arrow Connector 27"/>
          <p:cNvCxnSpPr>
            <a:stCxn id="5" idx="3"/>
          </p:cNvCxnSpPr>
          <p:nvPr/>
        </p:nvCxnSpPr>
        <p:spPr>
          <a:xfrm>
            <a:off x="7041930" y="4142179"/>
            <a:ext cx="3666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74407" y="4966892"/>
            <a:ext cx="90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Patches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342247" y="1501663"/>
            <a:ext cx="1651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 smtClean="0"/>
              <a:t>iFixFlakies</a:t>
            </a:r>
            <a:endParaRPr lang="en-US" sz="2800" dirty="0"/>
          </a:p>
        </p:txBody>
      </p:sp>
      <p:sp>
        <p:nvSpPr>
          <p:cNvPr id="32" name="Rectangle 31"/>
          <p:cNvSpPr/>
          <p:nvPr/>
        </p:nvSpPr>
        <p:spPr>
          <a:xfrm>
            <a:off x="86683" y="2736632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0</a:t>
            </a:r>
            <a:endParaRPr lang="en-US" sz="2400" dirty="0"/>
          </a:p>
        </p:txBody>
      </p:sp>
      <p:sp>
        <p:nvSpPr>
          <p:cNvPr id="33" name="Rectangle 32"/>
          <p:cNvSpPr/>
          <p:nvPr/>
        </p:nvSpPr>
        <p:spPr>
          <a:xfrm>
            <a:off x="1031468" y="2736632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34" name="Rectangle 33"/>
          <p:cNvSpPr/>
          <p:nvPr/>
        </p:nvSpPr>
        <p:spPr>
          <a:xfrm>
            <a:off x="1976304" y="2736632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2</a:t>
            </a:r>
            <a:endParaRPr lang="en-US" sz="2400" dirty="0"/>
          </a:p>
        </p:txBody>
      </p:sp>
      <p:sp>
        <p:nvSpPr>
          <p:cNvPr id="37" name="Rectangle 36"/>
          <p:cNvSpPr/>
          <p:nvPr/>
        </p:nvSpPr>
        <p:spPr>
          <a:xfrm>
            <a:off x="90429" y="4690267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0</a:t>
            </a:r>
            <a:endParaRPr lang="en-US" sz="2400" dirty="0"/>
          </a:p>
        </p:txBody>
      </p:sp>
      <p:sp>
        <p:nvSpPr>
          <p:cNvPr id="38" name="Rectangle 37"/>
          <p:cNvSpPr/>
          <p:nvPr/>
        </p:nvSpPr>
        <p:spPr>
          <a:xfrm>
            <a:off x="1033723" y="4690265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39" name="Rectangle 38"/>
          <p:cNvSpPr/>
          <p:nvPr/>
        </p:nvSpPr>
        <p:spPr>
          <a:xfrm>
            <a:off x="1976304" y="4690266"/>
            <a:ext cx="886691" cy="42761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738906" y="2231426"/>
            <a:ext cx="1471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Passing Order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782827" y="4222764"/>
            <a:ext cx="1383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Failing Order</a:t>
            </a:r>
            <a:endParaRPr lang="en-US" dirty="0"/>
          </a:p>
        </p:txBody>
      </p:sp>
      <p:sp>
        <p:nvSpPr>
          <p:cNvPr id="43" name="Rectangle 42"/>
          <p:cNvSpPr/>
          <p:nvPr/>
        </p:nvSpPr>
        <p:spPr>
          <a:xfrm>
            <a:off x="34903" y="2614628"/>
            <a:ext cx="2892448" cy="6841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>
            <a:stCxn id="43" idx="3"/>
          </p:cNvCxnSpPr>
          <p:nvPr/>
        </p:nvCxnSpPr>
        <p:spPr>
          <a:xfrm flipV="1">
            <a:off x="2927351" y="2952750"/>
            <a:ext cx="366628" cy="3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4903" y="4599711"/>
            <a:ext cx="2892448" cy="57800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>
            <a:stCxn id="45" idx="3"/>
          </p:cNvCxnSpPr>
          <p:nvPr/>
        </p:nvCxnSpPr>
        <p:spPr>
          <a:xfrm flipV="1">
            <a:off x="2927351" y="4884355"/>
            <a:ext cx="366628" cy="43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6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 animBg="1"/>
      <p:bldP spid="33" grpId="0" animBg="1"/>
      <p:bldP spid="34" grpId="0" animBg="1"/>
      <p:bldP spid="37" grpId="0" animBg="1"/>
      <p:bldP spid="38" grpId="0" animBg="1"/>
      <p:bldP spid="39" grpId="0" animBg="1"/>
      <p:bldP spid="41" grpId="0"/>
      <p:bldP spid="42" grpId="0"/>
      <p:bldP spid="43" grpId="0" animBg="1"/>
      <p:bldP spid="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iFixFlakies</a:t>
            </a:r>
            <a:r>
              <a:rPr lang="en-US" dirty="0" smtClean="0"/>
              <a:t>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8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6683" y="2736632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0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1031468" y="2736632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1976253" y="2733239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2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90429" y="4690267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 smtClean="0"/>
              <a:t>0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1031468" y="4689693"/>
            <a:ext cx="886691" cy="42761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1976304" y="4690266"/>
            <a:ext cx="886691" cy="42761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test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738906" y="2231426"/>
            <a:ext cx="1471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Passing Order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82827" y="4222764"/>
            <a:ext cx="1383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Failing Order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4903" y="2614628"/>
            <a:ext cx="2892448" cy="68419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>
            <a:stCxn id="15" idx="3"/>
          </p:cNvCxnSpPr>
          <p:nvPr/>
        </p:nvCxnSpPr>
        <p:spPr>
          <a:xfrm flipV="1">
            <a:off x="2927351" y="2952750"/>
            <a:ext cx="366628" cy="3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7486650" y="3187904"/>
            <a:ext cx="1589854" cy="1612123"/>
            <a:chOff x="7377600" y="2278855"/>
            <a:chExt cx="1589854" cy="1612123"/>
          </a:xfrm>
        </p:grpSpPr>
        <p:sp>
          <p:nvSpPr>
            <p:cNvPr id="27" name="Rectangle 26"/>
            <p:cNvSpPr/>
            <p:nvPr/>
          </p:nvSpPr>
          <p:spPr>
            <a:xfrm>
              <a:off x="7900654" y="2278855"/>
              <a:ext cx="1066800" cy="1185492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684838" y="2525598"/>
              <a:ext cx="1066800" cy="118549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377600" y="2705486"/>
              <a:ext cx="1066800" cy="1185492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/>
          <p:cNvSpPr/>
          <p:nvPr/>
        </p:nvSpPr>
        <p:spPr>
          <a:xfrm>
            <a:off x="34903" y="4599711"/>
            <a:ext cx="2892448" cy="57800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/>
          <p:cNvCxnSpPr>
            <a:stCxn id="35" idx="3"/>
          </p:cNvCxnSpPr>
          <p:nvPr/>
        </p:nvCxnSpPr>
        <p:spPr>
          <a:xfrm flipV="1">
            <a:off x="2927351" y="4884355"/>
            <a:ext cx="366628" cy="43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5" idx="3"/>
          </p:cNvCxnSpPr>
          <p:nvPr/>
        </p:nvCxnSpPr>
        <p:spPr>
          <a:xfrm>
            <a:off x="7041930" y="4142179"/>
            <a:ext cx="3666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74407" y="4966892"/>
            <a:ext cx="905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Patches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4342247" y="1501663"/>
            <a:ext cx="1651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 smtClean="0"/>
              <a:t>iFixFlakies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3399343" y="2378821"/>
            <a:ext cx="1559789" cy="35267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Minimizer</a:t>
            </a:r>
            <a:endParaRPr lang="en-US" dirty="0"/>
          </a:p>
        </p:txBody>
      </p:sp>
      <p:sp>
        <p:nvSpPr>
          <p:cNvPr id="29" name="Rectangle 28"/>
          <p:cNvSpPr/>
          <p:nvPr/>
        </p:nvSpPr>
        <p:spPr>
          <a:xfrm>
            <a:off x="5325760" y="2378821"/>
            <a:ext cx="1621988" cy="35267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Patcher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293979" y="2024883"/>
            <a:ext cx="3747951" cy="42345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/>
          </a:p>
        </p:txBody>
      </p:sp>
      <p:cxnSp>
        <p:nvCxnSpPr>
          <p:cNvPr id="34" name="Straight Arrow Connector 33"/>
          <p:cNvCxnSpPr>
            <a:stCxn id="3" idx="3"/>
            <a:endCxn id="29" idx="1"/>
          </p:cNvCxnSpPr>
          <p:nvPr/>
        </p:nvCxnSpPr>
        <p:spPr>
          <a:xfrm>
            <a:off x="4959132" y="4142179"/>
            <a:ext cx="3666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623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Minimizer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Input</a:t>
            </a:r>
            <a:r>
              <a:rPr lang="en-US" dirty="0" smtClean="0"/>
              <a:t>: A passing order, a failing order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 smtClean="0"/>
              <a:t>Determine OD test kind by running the OD test in isolation</a:t>
            </a:r>
          </a:p>
          <a:p>
            <a:pPr lvl="2"/>
            <a:r>
              <a:rPr lang="en-US" sz="3200" dirty="0" smtClean="0"/>
              <a:t>Passing means victim, failing means brittle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 smtClean="0"/>
              <a:t>Find polluters from failing order, state-setters from passing order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 smtClean="0"/>
              <a:t>Find cleaner for polluter/victim pairs</a:t>
            </a:r>
          </a:p>
          <a:p>
            <a:pPr marL="0" indent="0">
              <a:buNone/>
            </a:pPr>
            <a:r>
              <a:rPr lang="en-US" b="1" dirty="0" smtClean="0"/>
              <a:t>Output:</a:t>
            </a:r>
            <a:r>
              <a:rPr lang="en-US" dirty="0" smtClean="0"/>
              <a:t> Polluters/cleaners/state-setters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65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Minimizer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Input</a:t>
            </a:r>
            <a:r>
              <a:rPr lang="en-US" dirty="0" smtClean="0"/>
              <a:t>: A passing order, a failing order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Determine OD test kind by running the OD test in isolation</a:t>
            </a:r>
          </a:p>
          <a:p>
            <a:pPr lvl="2"/>
            <a:r>
              <a:rPr lang="en-US" sz="3200" dirty="0" smtClean="0"/>
              <a:t>Passing means </a:t>
            </a:r>
            <a:r>
              <a:rPr lang="en-US" sz="3200" b="1" dirty="0" smtClean="0"/>
              <a:t>victim</a:t>
            </a:r>
            <a:r>
              <a:rPr lang="en-US" sz="3200" dirty="0" smtClean="0"/>
              <a:t>, failing means brittle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 smtClean="0"/>
              <a:t>Find </a:t>
            </a:r>
            <a:r>
              <a:rPr lang="en-US" b="1" dirty="0" smtClean="0"/>
              <a:t>polluters</a:t>
            </a:r>
            <a:r>
              <a:rPr lang="en-US" dirty="0" smtClean="0"/>
              <a:t> from failing order, state-setters from passing order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 smtClean="0"/>
              <a:t>Find </a:t>
            </a:r>
            <a:r>
              <a:rPr lang="en-US" b="1" dirty="0" smtClean="0"/>
              <a:t>cleaner</a:t>
            </a:r>
            <a:r>
              <a:rPr lang="en-US" dirty="0" smtClean="0"/>
              <a:t> for </a:t>
            </a:r>
            <a:r>
              <a:rPr lang="en-US" b="1" dirty="0" smtClean="0"/>
              <a:t>polluter</a:t>
            </a:r>
            <a:r>
              <a:rPr lang="en-US" dirty="0" smtClean="0"/>
              <a:t>/</a:t>
            </a:r>
            <a:r>
              <a:rPr lang="en-US" b="1" dirty="0" smtClean="0"/>
              <a:t>victim</a:t>
            </a:r>
            <a:r>
              <a:rPr lang="en-US" dirty="0" smtClean="0"/>
              <a:t> pairs</a:t>
            </a:r>
          </a:p>
          <a:p>
            <a:pPr marL="0" indent="0">
              <a:buNone/>
            </a:pPr>
            <a:r>
              <a:rPr lang="en-US" b="1" dirty="0" smtClean="0"/>
              <a:t>Output:</a:t>
            </a:r>
            <a:r>
              <a:rPr lang="en-US" dirty="0" smtClean="0"/>
              <a:t> </a:t>
            </a:r>
            <a:r>
              <a:rPr lang="en-US" b="1" dirty="0" smtClean="0"/>
              <a:t>Polluters</a:t>
            </a:r>
            <a:r>
              <a:rPr lang="en-US" dirty="0" smtClean="0"/>
              <a:t>/</a:t>
            </a:r>
            <a:r>
              <a:rPr lang="en-US" b="1" dirty="0" smtClean="0"/>
              <a:t>cleaners</a:t>
            </a:r>
            <a:r>
              <a:rPr lang="en-US" dirty="0" smtClean="0"/>
              <a:t>/state-setters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4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Minimizer (Determine OD Test Kind)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11</a:t>
            </a:fld>
            <a:endParaRPr lang="en-US"/>
          </a:p>
        </p:txBody>
      </p:sp>
      <p:grpSp>
        <p:nvGrpSpPr>
          <p:cNvPr id="54" name="Group 53"/>
          <p:cNvGrpSpPr/>
          <p:nvPr/>
        </p:nvGrpSpPr>
        <p:grpSpPr>
          <a:xfrm>
            <a:off x="2320866" y="1347564"/>
            <a:ext cx="4502268" cy="664376"/>
            <a:chOff x="2524175" y="1358500"/>
            <a:chExt cx="4502268" cy="664376"/>
          </a:xfrm>
        </p:grpSpPr>
        <p:sp>
          <p:nvSpPr>
            <p:cNvPr id="55" name="Rectangle 54"/>
            <p:cNvSpPr/>
            <p:nvPr/>
          </p:nvSpPr>
          <p:spPr>
            <a:xfrm>
              <a:off x="6321341" y="1358500"/>
              <a:ext cx="705102" cy="66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/>
                <a:t>3</a:t>
              </a:r>
              <a:endParaRPr lang="en-US" sz="2400" dirty="0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789897" y="1358501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 smtClean="0"/>
                <a:t>1</a:t>
              </a:r>
              <a:endParaRPr lang="en-US" sz="2400"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524175" y="1358500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 smtClean="0"/>
                <a:t>0</a:t>
              </a:r>
              <a:endParaRPr lang="en-US" sz="2400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055619" y="1358500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/>
                <a:t>2</a:t>
              </a:r>
              <a:endParaRPr lang="en-US" sz="2400" dirty="0"/>
            </a:p>
          </p:txBody>
        </p:sp>
      </p:grpSp>
      <p:sp>
        <p:nvSpPr>
          <p:cNvPr id="59" name="Rectangle 58"/>
          <p:cNvSpPr/>
          <p:nvPr/>
        </p:nvSpPr>
        <p:spPr>
          <a:xfrm>
            <a:off x="2242878" y="1292749"/>
            <a:ext cx="4665922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121031" y="2294389"/>
            <a:ext cx="910171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4223288" y="2353687"/>
            <a:ext cx="705102" cy="66437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</a:t>
            </a:r>
            <a:r>
              <a:rPr lang="en-US" sz="2400" baseline="-25000" dirty="0" smtClean="0"/>
              <a:t>3</a:t>
            </a:r>
            <a:endParaRPr lang="en-US" sz="2400" dirty="0"/>
          </a:p>
        </p:txBody>
      </p:sp>
      <p:sp>
        <p:nvSpPr>
          <p:cNvPr id="72" name="Rectangle 71"/>
          <p:cNvSpPr/>
          <p:nvPr/>
        </p:nvSpPr>
        <p:spPr>
          <a:xfrm>
            <a:off x="4223288" y="2353687"/>
            <a:ext cx="705102" cy="66437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V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930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7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Minimizer (Find Polluter)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12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951400" y="3137643"/>
            <a:ext cx="1970824" cy="664376"/>
            <a:chOff x="836971" y="3026956"/>
            <a:chExt cx="1970824" cy="664376"/>
          </a:xfrm>
        </p:grpSpPr>
        <p:sp>
          <p:nvSpPr>
            <p:cNvPr id="10" name="Rectangle 9"/>
            <p:cNvSpPr/>
            <p:nvPr/>
          </p:nvSpPr>
          <p:spPr>
            <a:xfrm>
              <a:off x="2102693" y="3026956"/>
              <a:ext cx="705102" cy="66437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36971" y="3026956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/>
                <a:t>2</a:t>
              </a:r>
              <a:endParaRPr lang="en-US" sz="24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780254" y="3137641"/>
            <a:ext cx="3236546" cy="664377"/>
            <a:chOff x="4641732" y="2717000"/>
            <a:chExt cx="3236546" cy="664377"/>
          </a:xfrm>
        </p:grpSpPr>
        <p:sp>
          <p:nvSpPr>
            <p:cNvPr id="13" name="Rectangle 12"/>
            <p:cNvSpPr/>
            <p:nvPr/>
          </p:nvSpPr>
          <p:spPr>
            <a:xfrm>
              <a:off x="7173176" y="2717000"/>
              <a:ext cx="705102" cy="66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907454" y="2717002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 smtClean="0"/>
                <a:t>1</a:t>
              </a:r>
              <a:endParaRPr lang="en-US" sz="24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641732" y="2717001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 smtClean="0"/>
                <a:t>0</a:t>
              </a:r>
              <a:endParaRPr lang="en-US" sz="2400" dirty="0"/>
            </a:p>
          </p:txBody>
        </p:sp>
      </p:grpSp>
      <p:cxnSp>
        <p:nvCxnSpPr>
          <p:cNvPr id="18" name="Straight Arrow Connector 17"/>
          <p:cNvCxnSpPr>
            <a:stCxn id="49" idx="2"/>
            <a:endCxn id="38" idx="0"/>
          </p:cNvCxnSpPr>
          <p:nvPr/>
        </p:nvCxnSpPr>
        <p:spPr>
          <a:xfrm flipH="1">
            <a:off x="2940326" y="2071682"/>
            <a:ext cx="1635513" cy="10062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49" idx="2"/>
            <a:endCxn id="42" idx="0"/>
          </p:cNvCxnSpPr>
          <p:nvPr/>
        </p:nvCxnSpPr>
        <p:spPr>
          <a:xfrm>
            <a:off x="4575839" y="2071682"/>
            <a:ext cx="1829844" cy="10062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4684502" y="4827055"/>
            <a:ext cx="1970824" cy="664377"/>
            <a:chOff x="4234438" y="4547478"/>
            <a:chExt cx="1970824" cy="664377"/>
          </a:xfrm>
        </p:grpSpPr>
        <p:sp>
          <p:nvSpPr>
            <p:cNvPr id="28" name="Rectangle 27"/>
            <p:cNvSpPr/>
            <p:nvPr/>
          </p:nvSpPr>
          <p:spPr>
            <a:xfrm>
              <a:off x="5500160" y="4547478"/>
              <a:ext cx="705102" cy="66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234438" y="4547480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 smtClean="0"/>
                <a:t>1</a:t>
              </a:r>
              <a:endParaRPr lang="en-US" sz="2400" dirty="0"/>
            </a:p>
          </p:txBody>
        </p:sp>
      </p:grpSp>
      <p:cxnSp>
        <p:nvCxnSpPr>
          <p:cNvPr id="30" name="Straight Arrow Connector 29"/>
          <p:cNvCxnSpPr>
            <a:stCxn id="42" idx="2"/>
            <a:endCxn id="48" idx="0"/>
          </p:cNvCxnSpPr>
          <p:nvPr/>
        </p:nvCxnSpPr>
        <p:spPr>
          <a:xfrm flipH="1">
            <a:off x="5680325" y="3856830"/>
            <a:ext cx="725358" cy="9154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869573" y="3077897"/>
            <a:ext cx="2141506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708527" y="3077897"/>
            <a:ext cx="3394312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4609572" y="4772241"/>
            <a:ext cx="2141506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/>
          <p:cNvSpPr/>
          <p:nvPr/>
        </p:nvSpPr>
        <p:spPr>
          <a:xfrm>
            <a:off x="4369050" y="4602657"/>
            <a:ext cx="1324304" cy="111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/>
          <p:cNvSpPr txBox="1"/>
          <p:nvPr/>
        </p:nvSpPr>
        <p:spPr>
          <a:xfrm>
            <a:off x="721378" y="4049626"/>
            <a:ext cx="1324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Polluter</a:t>
            </a:r>
            <a:endParaRPr lang="en-US" sz="2800" dirty="0"/>
          </a:p>
        </p:txBody>
      </p:sp>
      <p:cxnSp>
        <p:nvCxnSpPr>
          <p:cNvPr id="76" name="Straight Arrow Connector 75"/>
          <p:cNvCxnSpPr>
            <a:stCxn id="74" idx="3"/>
            <a:endCxn id="73" idx="2"/>
          </p:cNvCxnSpPr>
          <p:nvPr/>
        </p:nvCxnSpPr>
        <p:spPr>
          <a:xfrm>
            <a:off x="2045971" y="4311236"/>
            <a:ext cx="2323079" cy="8480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4678651" y="4827056"/>
            <a:ext cx="705102" cy="66437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P</a:t>
            </a:r>
            <a:endParaRPr lang="en-US" sz="2400" dirty="0"/>
          </a:p>
        </p:txBody>
      </p:sp>
      <p:sp>
        <p:nvSpPr>
          <p:cNvPr id="19" name="TextBox 18"/>
          <p:cNvSpPr txBox="1"/>
          <p:nvPr/>
        </p:nvSpPr>
        <p:spPr>
          <a:xfrm>
            <a:off x="135857" y="5420926"/>
            <a:ext cx="33391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Can be configured to find</a:t>
            </a:r>
          </a:p>
          <a:p>
            <a:pPr algn="ctr"/>
            <a:r>
              <a:rPr lang="en-US" sz="2400" dirty="0" smtClean="0"/>
              <a:t>multiple polluters</a:t>
            </a:r>
            <a:endParaRPr lang="en-US" sz="2400" dirty="0"/>
          </a:p>
        </p:txBody>
      </p:sp>
      <p:grpSp>
        <p:nvGrpSpPr>
          <p:cNvPr id="43" name="Group 42"/>
          <p:cNvGrpSpPr/>
          <p:nvPr/>
        </p:nvGrpSpPr>
        <p:grpSpPr>
          <a:xfrm>
            <a:off x="2320866" y="1347564"/>
            <a:ext cx="4502268" cy="664376"/>
            <a:chOff x="2524175" y="1358500"/>
            <a:chExt cx="4502268" cy="664376"/>
          </a:xfrm>
        </p:grpSpPr>
        <p:sp>
          <p:nvSpPr>
            <p:cNvPr id="44" name="Rectangle 43"/>
            <p:cNvSpPr/>
            <p:nvPr/>
          </p:nvSpPr>
          <p:spPr>
            <a:xfrm>
              <a:off x="6321341" y="1358500"/>
              <a:ext cx="705102" cy="66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789897" y="1358501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 smtClean="0"/>
                <a:t>1</a:t>
              </a:r>
              <a:endParaRPr lang="en-US" sz="2400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524175" y="1358500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 smtClean="0"/>
                <a:t>0</a:t>
              </a:r>
              <a:endParaRPr lang="en-US" sz="2400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055619" y="1358500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/>
                <a:t>2</a:t>
              </a:r>
              <a:endParaRPr lang="en-US" sz="2400" dirty="0"/>
            </a:p>
          </p:txBody>
        </p:sp>
      </p:grpSp>
      <p:sp>
        <p:nvSpPr>
          <p:cNvPr id="49" name="Rectangle 48"/>
          <p:cNvSpPr/>
          <p:nvPr/>
        </p:nvSpPr>
        <p:spPr>
          <a:xfrm>
            <a:off x="2242878" y="1292749"/>
            <a:ext cx="4665922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82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2" grpId="0" animBg="1"/>
      <p:bldP spid="48" grpId="0" animBg="1"/>
      <p:bldP spid="73" grpId="0" animBg="1"/>
      <p:bldP spid="74" grpId="0"/>
      <p:bldP spid="92" grpId="0" animBg="1"/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Minimizer (Find Cleaner)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13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90913" y="1307022"/>
            <a:ext cx="5993794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1684930" y="1358500"/>
            <a:ext cx="5774137" cy="664377"/>
            <a:chOff x="712785" y="1745503"/>
            <a:chExt cx="5774137" cy="664377"/>
          </a:xfrm>
        </p:grpSpPr>
        <p:sp>
          <p:nvSpPr>
            <p:cNvPr id="6" name="Rectangle 5"/>
            <p:cNvSpPr/>
            <p:nvPr/>
          </p:nvSpPr>
          <p:spPr>
            <a:xfrm>
              <a:off x="4509951" y="1745504"/>
              <a:ext cx="705102" cy="66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978507" y="1745505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P</a:t>
              </a:r>
              <a:endParaRPr lang="en-US" sz="24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12785" y="1745504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 smtClean="0"/>
                <a:t>0</a:t>
              </a:r>
              <a:endParaRPr lang="en-US" sz="24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244229" y="1745504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/>
                <a:t>2</a:t>
              </a:r>
              <a:endParaRPr lang="en-US" sz="24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81820" y="1745503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 smtClean="0"/>
                <a:t>4</a:t>
              </a:r>
              <a:endParaRPr lang="en-US" sz="2400" dirty="0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121267" y="2243663"/>
            <a:ext cx="4901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All tests are candidate cleaners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5452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Minimizer (Find Cleaner)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14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30632" y="2400858"/>
            <a:ext cx="3236546" cy="664377"/>
            <a:chOff x="4641732" y="2717000"/>
            <a:chExt cx="3236546" cy="664377"/>
          </a:xfrm>
        </p:grpSpPr>
        <p:sp>
          <p:nvSpPr>
            <p:cNvPr id="19" name="Rectangle 18"/>
            <p:cNvSpPr/>
            <p:nvPr/>
          </p:nvSpPr>
          <p:spPr>
            <a:xfrm>
              <a:off x="7173176" y="2717000"/>
              <a:ext cx="705102" cy="66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907454" y="2717002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/>
                <a:t>0</a:t>
              </a:r>
              <a:endParaRPr lang="en-US" sz="24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641732" y="2717001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P</a:t>
              </a:r>
              <a:endParaRPr lang="en-US" sz="2400" dirty="0"/>
            </a:p>
          </p:txBody>
        </p:sp>
      </p:grpSp>
      <p:sp>
        <p:nvSpPr>
          <p:cNvPr id="22" name="Rectangle 21"/>
          <p:cNvSpPr/>
          <p:nvPr/>
        </p:nvSpPr>
        <p:spPr>
          <a:xfrm>
            <a:off x="3058905" y="2341114"/>
            <a:ext cx="3394312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/>
          <p:cNvGrpSpPr/>
          <p:nvPr/>
        </p:nvGrpSpPr>
        <p:grpSpPr>
          <a:xfrm>
            <a:off x="3130632" y="4113892"/>
            <a:ext cx="3236546" cy="664377"/>
            <a:chOff x="4641732" y="2717000"/>
            <a:chExt cx="3236546" cy="664377"/>
          </a:xfrm>
        </p:grpSpPr>
        <p:sp>
          <p:nvSpPr>
            <p:cNvPr id="56" name="Rectangle 55"/>
            <p:cNvSpPr/>
            <p:nvPr/>
          </p:nvSpPr>
          <p:spPr>
            <a:xfrm>
              <a:off x="7173176" y="2717000"/>
              <a:ext cx="705102" cy="66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907454" y="2717002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/>
                <a:t>2</a:t>
              </a:r>
              <a:endParaRPr lang="en-US" sz="2400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641732" y="2717001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P</a:t>
              </a:r>
              <a:endParaRPr lang="en-US" sz="24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058905" y="4054148"/>
            <a:ext cx="3394312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3130632" y="4972216"/>
            <a:ext cx="3236546" cy="664377"/>
            <a:chOff x="4641732" y="2717000"/>
            <a:chExt cx="3236546" cy="664377"/>
          </a:xfrm>
        </p:grpSpPr>
        <p:sp>
          <p:nvSpPr>
            <p:cNvPr id="62" name="Rectangle 61"/>
            <p:cNvSpPr/>
            <p:nvPr/>
          </p:nvSpPr>
          <p:spPr>
            <a:xfrm>
              <a:off x="7173176" y="2717000"/>
              <a:ext cx="705102" cy="66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907454" y="2717002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641732" y="2717001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P</a:t>
              </a:r>
              <a:endParaRPr lang="en-US" sz="2400" dirty="0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3058905" y="4912472"/>
            <a:ext cx="3394312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/>
          <p:cNvGrpSpPr/>
          <p:nvPr/>
        </p:nvGrpSpPr>
        <p:grpSpPr>
          <a:xfrm>
            <a:off x="3130632" y="5830540"/>
            <a:ext cx="3236546" cy="664377"/>
            <a:chOff x="4641732" y="2717000"/>
            <a:chExt cx="3236546" cy="664377"/>
          </a:xfrm>
        </p:grpSpPr>
        <p:sp>
          <p:nvSpPr>
            <p:cNvPr id="67" name="Rectangle 66"/>
            <p:cNvSpPr/>
            <p:nvPr/>
          </p:nvSpPr>
          <p:spPr>
            <a:xfrm>
              <a:off x="7173176" y="2717000"/>
              <a:ext cx="705102" cy="66437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907454" y="2717002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/>
                <a:t>4</a:t>
              </a:r>
              <a:endParaRPr lang="en-US" sz="2400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641732" y="2717001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P</a:t>
              </a:r>
              <a:endParaRPr lang="en-US" sz="2400" dirty="0"/>
            </a:p>
          </p:txBody>
        </p:sp>
      </p:grpSp>
      <p:sp>
        <p:nvSpPr>
          <p:cNvPr id="70" name="Rectangle 69"/>
          <p:cNvSpPr/>
          <p:nvPr/>
        </p:nvSpPr>
        <p:spPr>
          <a:xfrm>
            <a:off x="3058905" y="5770796"/>
            <a:ext cx="3394312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846981" y="4443614"/>
            <a:ext cx="1298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/>
              <a:t>Cleaner</a:t>
            </a:r>
            <a:endParaRPr lang="en-US" sz="2800" dirty="0"/>
          </a:p>
        </p:txBody>
      </p:sp>
      <p:cxnSp>
        <p:nvCxnSpPr>
          <p:cNvPr id="73" name="Straight Arrow Connector 72"/>
          <p:cNvCxnSpPr>
            <a:stCxn id="72" idx="3"/>
            <a:endCxn id="71" idx="2"/>
          </p:cNvCxnSpPr>
          <p:nvPr/>
        </p:nvCxnSpPr>
        <p:spPr>
          <a:xfrm>
            <a:off x="2145734" y="4705224"/>
            <a:ext cx="2094322" cy="14297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4391621" y="5830540"/>
            <a:ext cx="705102" cy="66437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C</a:t>
            </a:r>
            <a:endParaRPr lang="en-US" sz="2400" dirty="0"/>
          </a:p>
        </p:txBody>
      </p:sp>
      <p:grpSp>
        <p:nvGrpSpPr>
          <p:cNvPr id="75" name="Group 74"/>
          <p:cNvGrpSpPr/>
          <p:nvPr/>
        </p:nvGrpSpPr>
        <p:grpSpPr>
          <a:xfrm>
            <a:off x="3130632" y="3259184"/>
            <a:ext cx="3236546" cy="664377"/>
            <a:chOff x="4641732" y="2717000"/>
            <a:chExt cx="3236546" cy="664377"/>
          </a:xfrm>
        </p:grpSpPr>
        <p:sp>
          <p:nvSpPr>
            <p:cNvPr id="76" name="Rectangle 75"/>
            <p:cNvSpPr/>
            <p:nvPr/>
          </p:nvSpPr>
          <p:spPr>
            <a:xfrm>
              <a:off x="7173176" y="2717000"/>
              <a:ext cx="705102" cy="66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907454" y="2717002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P</a:t>
              </a:r>
              <a:endParaRPr lang="en-US" sz="2400" dirty="0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4641732" y="2717001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P</a:t>
              </a:r>
              <a:endParaRPr lang="en-US" sz="2400" dirty="0"/>
            </a:p>
          </p:txBody>
        </p:sp>
      </p:grpSp>
      <p:sp>
        <p:nvSpPr>
          <p:cNvPr id="79" name="Rectangle 78"/>
          <p:cNvSpPr/>
          <p:nvPr/>
        </p:nvSpPr>
        <p:spPr>
          <a:xfrm>
            <a:off x="3058905" y="3199440"/>
            <a:ext cx="3394312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4240056" y="5693024"/>
            <a:ext cx="1008322" cy="883903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1590913" y="1307022"/>
            <a:ext cx="5993794" cy="7789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/>
          <p:cNvGrpSpPr/>
          <p:nvPr/>
        </p:nvGrpSpPr>
        <p:grpSpPr>
          <a:xfrm>
            <a:off x="1684930" y="1358500"/>
            <a:ext cx="5774137" cy="664377"/>
            <a:chOff x="712785" y="1745503"/>
            <a:chExt cx="5774137" cy="664377"/>
          </a:xfrm>
        </p:grpSpPr>
        <p:sp>
          <p:nvSpPr>
            <p:cNvPr id="89" name="Rectangle 88"/>
            <p:cNvSpPr/>
            <p:nvPr/>
          </p:nvSpPr>
          <p:spPr>
            <a:xfrm>
              <a:off x="4509951" y="1745504"/>
              <a:ext cx="705102" cy="664376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1978507" y="1745505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P</a:t>
              </a:r>
              <a:endParaRPr lang="en-US" sz="2400" dirty="0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712785" y="1745504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 smtClean="0"/>
                <a:t>0</a:t>
              </a:r>
              <a:endParaRPr lang="en-US" sz="2400" dirty="0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3244229" y="1745504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/>
                <a:t>2</a:t>
              </a:r>
              <a:endParaRPr lang="en-US" sz="2400" dirty="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5781820" y="1745503"/>
              <a:ext cx="705102" cy="66437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T</a:t>
              </a:r>
              <a:r>
                <a:rPr lang="en-US" sz="2400" baseline="-25000" dirty="0" smtClean="0"/>
                <a:t>4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376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5" grpId="0" animBg="1"/>
      <p:bldP spid="70" grpId="0" animBg="1"/>
      <p:bldP spid="72" grpId="0"/>
      <p:bldP spid="74" grpId="0" animBg="1"/>
      <p:bldP spid="79" grpId="0" animBg="1"/>
      <p:bldP spid="7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Patcher</a:t>
            </a:r>
            <a:r>
              <a:rPr lang="en-US" dirty="0" smtClean="0"/>
              <a:t>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Input</a:t>
            </a:r>
            <a:r>
              <a:rPr lang="en-US" dirty="0" smtClean="0"/>
              <a:t>: Polluters/cleaners/state-setters</a:t>
            </a:r>
            <a:endParaRPr lang="en-US" b="1" dirty="0" smtClean="0"/>
          </a:p>
          <a:p>
            <a:pPr marL="742950" indent="-742950">
              <a:buFont typeface="+mj-lt"/>
              <a:buAutoNum type="arabicPeriod"/>
            </a:pPr>
            <a:r>
              <a:rPr lang="en-US" dirty="0" smtClean="0"/>
              <a:t>Make copy of cleaner/state-setter as new helper method, to be minimized</a:t>
            </a:r>
          </a:p>
          <a:p>
            <a:pPr lvl="2"/>
            <a:r>
              <a:rPr lang="en-US" sz="3200" dirty="0" smtClean="0"/>
              <a:t>Also include setup/teardown code</a:t>
            </a:r>
            <a:endParaRPr lang="en-US" sz="4000" dirty="0" smtClean="0"/>
          </a:p>
          <a:p>
            <a:pPr marL="742950" indent="-742950">
              <a:buFont typeface="+mj-lt"/>
              <a:buAutoNum type="arabicPeriod"/>
            </a:pPr>
            <a:r>
              <a:rPr lang="en-US" dirty="0" smtClean="0"/>
              <a:t>Add call to helper method in OD test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 smtClean="0"/>
              <a:t>Delta debug statements in helper method until OD test passes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 smtClean="0"/>
              <a:t>Attempt to inline minimized statements into the OD test</a:t>
            </a:r>
          </a:p>
          <a:p>
            <a:pPr marL="0" indent="0">
              <a:buNone/>
            </a:pPr>
            <a:r>
              <a:rPr lang="en-US" b="1" dirty="0" smtClean="0"/>
              <a:t>Output</a:t>
            </a:r>
            <a:r>
              <a:rPr lang="en-US" dirty="0" smtClean="0"/>
              <a:t>: One patch per cleaner/state-setter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5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Patcher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1" y="1360617"/>
            <a:ext cx="91440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FailoverServiceTest</a:t>
            </a:r>
            <a:r>
              <a:rPr lang="en-US" sz="1600" dirty="0" smtClean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@Test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assertGetFailoverItems</a:t>
            </a:r>
            <a:r>
              <a:rPr lang="en-US" sz="1600" dirty="0" smtClean="0"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 </a:t>
            </a:r>
            <a:r>
              <a:rPr lang="en-US" sz="1600" dirty="0" err="1" smtClean="0">
                <a:latin typeface="Consolas" panose="020B0609020204030204" pitchFamily="49" charset="0"/>
              </a:rPr>
              <a:t>JobRegistry.getInstance</a:t>
            </a:r>
            <a:r>
              <a:rPr lang="en-US" sz="1600" dirty="0" smtClean="0">
                <a:latin typeface="Consolas" panose="020B0609020204030204" pitchFamily="49" charset="0"/>
              </a:rPr>
              <a:t>().</a:t>
            </a:r>
            <a:r>
              <a:rPr lang="en-US" sz="1600" dirty="0" err="1" smtClean="0">
                <a:latin typeface="Consolas" panose="020B0609020204030204" pitchFamily="49" charset="0"/>
              </a:rPr>
              <a:t>registerJob</a:t>
            </a:r>
            <a:r>
              <a:rPr lang="en-US" sz="1600" dirty="0" smtClean="0">
                <a:latin typeface="Consolas" panose="020B0609020204030204" pitchFamily="49" charset="0"/>
              </a:rPr>
              <a:t>(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“</a:t>
            </a:r>
            <a:r>
              <a:rPr lang="en-US" sz="16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test_job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”</a:t>
            </a:r>
            <a:r>
              <a:rPr lang="en-US" sz="1600" dirty="0" smtClean="0">
                <a:latin typeface="Consolas" panose="020B0609020204030204" pitchFamily="49" charset="0"/>
              </a:rPr>
              <a:t>, ...);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jobNodeStorage.getJobNodeChildrenKeys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 smtClean="0">
                <a:latin typeface="Consolas" panose="020B0609020204030204" pitchFamily="49" charset="0"/>
              </a:rPr>
              <a:t>(...));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 smtClean="0">
                <a:latin typeface="Consolas" panose="020B0609020204030204" pitchFamily="49" charset="0"/>
              </a:rPr>
              <a:t>assertThat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getJobNodeChildrenKeys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 </a:t>
            </a:r>
            <a:r>
              <a:rPr lang="en-US" sz="1600" dirty="0" err="1" smtClean="0">
                <a:latin typeface="Consolas" panose="020B0609020204030204" pitchFamily="49" charset="0"/>
              </a:rPr>
              <a:t>JobRegistry.getInstance</a:t>
            </a:r>
            <a:r>
              <a:rPr lang="en-US" sz="1600" dirty="0" smtClean="0">
                <a:latin typeface="Consolas" panose="020B0609020204030204" pitchFamily="49" charset="0"/>
              </a:rPr>
              <a:t>().shutdown(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“</a:t>
            </a:r>
            <a:r>
              <a:rPr lang="en-US" sz="16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test_job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”</a:t>
            </a:r>
            <a:r>
              <a:rPr lang="en-US" sz="16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}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277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Patcher</a:t>
            </a:r>
            <a:r>
              <a:rPr lang="en-US" dirty="0" smtClean="0"/>
              <a:t>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1" y="1360617"/>
            <a:ext cx="91440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FailoverServiceTest</a:t>
            </a:r>
            <a:r>
              <a:rPr lang="en-US" sz="1600" dirty="0" smtClean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 smtClean="0">
                <a:latin typeface="Consolas" panose="020B0609020204030204" pitchFamily="49" charset="0"/>
              </a:rPr>
              <a:t> helper() {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 </a:t>
            </a:r>
            <a:r>
              <a:rPr lang="en-US" sz="1600" dirty="0" err="1" smtClean="0">
                <a:latin typeface="Consolas" panose="020B0609020204030204" pitchFamily="49" charset="0"/>
              </a:rPr>
              <a:t>JobRegistry.getInstance</a:t>
            </a:r>
            <a:r>
              <a:rPr lang="en-US" sz="1600" dirty="0" smtClean="0">
                <a:latin typeface="Consolas" panose="020B0609020204030204" pitchFamily="49" charset="0"/>
              </a:rPr>
              <a:t>().</a:t>
            </a:r>
            <a:r>
              <a:rPr lang="en-US" sz="1600" dirty="0" err="1" smtClean="0">
                <a:latin typeface="Consolas" panose="020B0609020204030204" pitchFamily="49" charset="0"/>
              </a:rPr>
              <a:t>registerJob</a:t>
            </a:r>
            <a:r>
              <a:rPr lang="en-US" sz="1600" dirty="0" smtClean="0">
                <a:latin typeface="Consolas" panose="020B0609020204030204" pitchFamily="49" charset="0"/>
              </a:rPr>
              <a:t>(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“</a:t>
            </a:r>
            <a:r>
              <a:rPr lang="en-US" sz="16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test_job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”</a:t>
            </a:r>
            <a:r>
              <a:rPr lang="en-US" sz="1600" dirty="0" smtClean="0">
                <a:latin typeface="Consolas" panose="020B0609020204030204" pitchFamily="49" charset="0"/>
              </a:rPr>
              <a:t>, ...);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jobNodeStorage.getJobNodeChildrenKeys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 smtClean="0">
                <a:latin typeface="Consolas" panose="020B0609020204030204" pitchFamily="49" charset="0"/>
              </a:rPr>
              <a:t>(...));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false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when(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jobNodeStorage.getJobNodeDataDirectly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(...)).</a:t>
            </a:r>
            <a:r>
              <a:rPr lang="en-US" sz="1600" dirty="0" err="1">
                <a:latin typeface="Consolas" panose="020B0609020204030204" pitchFamily="49" charset="0"/>
              </a:rPr>
              <a:t>thenReturn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err="1" smtClean="0">
                <a:latin typeface="Consolas" panose="020B0609020204030204" pitchFamily="49" charset="0"/>
              </a:rPr>
              <a:t>assertThat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getJobNodeChildrenKeys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isJobNodeExisted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verify(</a:t>
            </a:r>
            <a:r>
              <a:rPr lang="en-US" sz="1600" dirty="0" err="1" smtClean="0">
                <a:latin typeface="Consolas" panose="020B0609020204030204" pitchFamily="49" charset="0"/>
              </a:rPr>
              <a:t>jobNodeStorage</a:t>
            </a:r>
            <a:r>
              <a:rPr lang="en-US" sz="1600" dirty="0">
                <a:latin typeface="Consolas" panose="020B0609020204030204" pitchFamily="49" charset="0"/>
              </a:rPr>
              <a:t>).</a:t>
            </a:r>
            <a:r>
              <a:rPr lang="en-US" sz="1600" dirty="0" err="1">
                <a:latin typeface="Consolas" panose="020B0609020204030204" pitchFamily="49" charset="0"/>
              </a:rPr>
              <a:t>getJobNodeDataDirectly</a:t>
            </a:r>
            <a:r>
              <a:rPr lang="en-US" sz="1600" dirty="0" smtClean="0">
                <a:latin typeface="Consolas" panose="020B0609020204030204" pitchFamily="49" charset="0"/>
              </a:rPr>
              <a:t>(...);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 </a:t>
            </a:r>
            <a:r>
              <a:rPr lang="en-US" sz="1600" dirty="0" err="1" smtClean="0">
                <a:latin typeface="Consolas" panose="020B0609020204030204" pitchFamily="49" charset="0"/>
              </a:rPr>
              <a:t>JobRegistry.getInstance</a:t>
            </a:r>
            <a:r>
              <a:rPr lang="en-US" sz="1600" dirty="0" smtClean="0">
                <a:latin typeface="Consolas" panose="020B0609020204030204" pitchFamily="49" charset="0"/>
              </a:rPr>
              <a:t>().shutdown(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“</a:t>
            </a:r>
            <a:r>
              <a:rPr lang="en-US" sz="16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test_job</a:t>
            </a:r>
            <a:r>
              <a:rPr lang="en-US" sz="16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”</a:t>
            </a:r>
            <a:r>
              <a:rPr lang="en-US" sz="16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}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062" y="5440680"/>
            <a:ext cx="2909434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assertRemoveLocalInstancePath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481062" y="6063151"/>
            <a:ext cx="2909433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</a:t>
            </a:r>
            <a:r>
              <a:rPr lang="en-US" sz="1600" dirty="0" smtClean="0"/>
              <a:t>elper + </a:t>
            </a:r>
            <a:r>
              <a:rPr lang="en-US" sz="1600" dirty="0" err="1" smtClean="0"/>
              <a:t>assertIsShutdownAlready</a:t>
            </a:r>
            <a:endParaRPr lang="en-US" sz="1600" dirty="0"/>
          </a:p>
        </p:txBody>
      </p:sp>
      <p:sp>
        <p:nvSpPr>
          <p:cNvPr id="3" name="Rectangle 2"/>
          <p:cNvSpPr/>
          <p:nvPr/>
        </p:nvSpPr>
        <p:spPr>
          <a:xfrm>
            <a:off x="541795" y="3652035"/>
            <a:ext cx="7723174" cy="17863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81061" y="6063151"/>
            <a:ext cx="2909433" cy="4757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helper + </a:t>
            </a:r>
            <a:r>
              <a:rPr lang="en-US" sz="1600" dirty="0" err="1" smtClean="0"/>
              <a:t>assertIsShutdownAlready</a:t>
            </a:r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541791" y="1926771"/>
            <a:ext cx="7723174" cy="17136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41797" y="4593007"/>
            <a:ext cx="7723174" cy="6873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41791" y="3634747"/>
            <a:ext cx="7723174" cy="9548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41799" y="5061899"/>
            <a:ext cx="7723174" cy="373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41795" y="4576750"/>
            <a:ext cx="7723174" cy="479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89696" y="5041310"/>
            <a:ext cx="5537020" cy="336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18" idx="1"/>
            <a:endCxn id="16" idx="3"/>
          </p:cNvCxnSpPr>
          <p:nvPr/>
        </p:nvCxnSpPr>
        <p:spPr>
          <a:xfrm flipH="1">
            <a:off x="6026716" y="4857152"/>
            <a:ext cx="431234" cy="3523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57950" y="4672486"/>
            <a:ext cx="268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Try to inline this statement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390494" y="5376108"/>
            <a:ext cx="56032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ShutdownListenerManagerTest</a:t>
            </a:r>
            <a:r>
              <a:rPr lang="en-US" sz="1600" dirty="0" smtClean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  @Test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assertIsShutdownAlready</a:t>
            </a:r>
            <a:r>
              <a:rPr lang="en-US" sz="1600" dirty="0">
                <a:latin typeface="Consolas" panose="020B0609020204030204" pitchFamily="49" charset="0"/>
              </a:rPr>
              <a:t>() </a:t>
            </a:r>
            <a:r>
              <a:rPr lang="en-US" sz="1600" dirty="0" smtClean="0"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new </a:t>
            </a:r>
            <a:r>
              <a:rPr lang="en-US" sz="1600" dirty="0" err="1" smtClean="0">
                <a:latin typeface="Consolas" panose="020B0609020204030204" pitchFamily="49" charset="0"/>
              </a:rPr>
              <a:t>FailoverServiceTest</a:t>
            </a:r>
            <a:r>
              <a:rPr lang="en-US" sz="1600" dirty="0" smtClean="0">
                <a:latin typeface="Consolas" panose="020B0609020204030204" pitchFamily="49" charset="0"/>
              </a:rPr>
              <a:t>().helper();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latin typeface="Consolas" panose="020B0609020204030204" pitchFamily="49" charset="0"/>
              </a:rPr>
              <a:t>...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smtClean="0">
                <a:latin typeface="Consolas" panose="020B0609020204030204" pitchFamily="49" charset="0"/>
              </a:rPr>
              <a:t>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0493" y="5378719"/>
            <a:ext cx="5900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 err="1" smtClean="0">
                <a:latin typeface="Consolas" panose="020B0609020204030204" pitchFamily="49" charset="0"/>
              </a:rPr>
              <a:t>ShutdownListenerManagerTest</a:t>
            </a:r>
            <a:r>
              <a:rPr lang="en-US" sz="1600" dirty="0" smtClean="0"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  @Test </a:t>
            </a:r>
            <a:r>
              <a:rPr lang="en-US" sz="16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 smtClean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1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</a:rPr>
              <a:t>assertIsShutdownAlready</a:t>
            </a:r>
            <a:r>
              <a:rPr lang="en-US" sz="1600" dirty="0">
                <a:latin typeface="Consolas" panose="020B0609020204030204" pitchFamily="49" charset="0"/>
              </a:rPr>
              <a:t>() </a:t>
            </a:r>
            <a:r>
              <a:rPr lang="en-US" sz="1600" dirty="0" smtClean="0"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latin typeface="Consolas" panose="020B0609020204030204" pitchFamily="49" charset="0"/>
              </a:rPr>
              <a:t>   </a:t>
            </a:r>
            <a:r>
              <a:rPr lang="en-US" sz="1600" dirty="0" err="1">
                <a:latin typeface="Consolas" panose="020B0609020204030204" pitchFamily="49" charset="0"/>
              </a:rPr>
              <a:t>JobRegistry.getInstance</a:t>
            </a:r>
            <a:r>
              <a:rPr lang="en-US" sz="1600" dirty="0">
                <a:latin typeface="Consolas" panose="020B0609020204030204" pitchFamily="49" charset="0"/>
              </a:rPr>
              <a:t>().shutdown(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</a:rPr>
              <a:t>“</a:t>
            </a:r>
            <a:r>
              <a:rPr lang="en-US" sz="1600" dirty="0" err="1">
                <a:solidFill>
                  <a:srgbClr val="7030A0"/>
                </a:solidFill>
                <a:latin typeface="Consolas" panose="020B0609020204030204" pitchFamily="49" charset="0"/>
              </a:rPr>
              <a:t>test_job</a:t>
            </a:r>
            <a:r>
              <a:rPr lang="en-US" sz="1600" dirty="0">
                <a:solidFill>
                  <a:srgbClr val="7030A0"/>
                </a:solidFill>
                <a:latin typeface="Consolas" panose="020B0609020204030204" pitchFamily="49" charset="0"/>
              </a:rPr>
              <a:t>”</a:t>
            </a:r>
            <a:r>
              <a:rPr lang="en-US" sz="16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 smtClean="0">
                <a:latin typeface="Consolas" panose="020B0609020204030204" pitchFamily="49" charset="0"/>
              </a:rPr>
              <a:t>    ...</a:t>
            </a:r>
            <a:endParaRPr lang="en-US" sz="1600" dirty="0">
              <a:latin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 smtClean="0">
                <a:latin typeface="Consolas" panose="020B0609020204030204" pitchFamily="49" charset="0"/>
              </a:rPr>
              <a:t>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1058" y="6059678"/>
            <a:ext cx="2909434" cy="475762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/>
              <a:t>assertIsShutdownAlready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2400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3" grpId="0" animBg="1"/>
      <p:bldP spid="3" grpId="1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1" grpId="0" animBg="1"/>
      <p:bldP spid="12" grpId="0" animBg="1"/>
      <p:bldP spid="12" grpId="1" animBg="1"/>
      <p:bldP spid="13" grpId="0" animBg="1"/>
      <p:bldP spid="14" grpId="0" animBg="1"/>
      <p:bldP spid="14" grpId="1" animBg="1"/>
      <p:bldP spid="15" grpId="0" animBg="1"/>
      <p:bldP spid="16" grpId="0" animBg="1"/>
      <p:bldP spid="18" grpId="0"/>
      <p:bldP spid="25" grpId="0"/>
      <p:bldP spid="25" grpId="1"/>
      <p:bldP spid="26" grpId="0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Setup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OD tests taken from public dataset collected in our prior work</a:t>
            </a:r>
            <a:r>
              <a:rPr lang="en-US" baseline="30000" dirty="0" smtClean="0"/>
              <a:t>1</a:t>
            </a:r>
          </a:p>
          <a:p>
            <a:pPr lvl="1"/>
            <a:r>
              <a:rPr lang="en-US" dirty="0" smtClean="0"/>
              <a:t>10 projects, 110 OD tests</a:t>
            </a:r>
          </a:p>
          <a:p>
            <a:r>
              <a:rPr lang="en-US" dirty="0" smtClean="0"/>
              <a:t>RQ1: Breakdown of kinds of OD tests?</a:t>
            </a:r>
          </a:p>
          <a:p>
            <a:r>
              <a:rPr lang="en-US" dirty="0" smtClean="0"/>
              <a:t>RQ2: Characteristics of patches?</a:t>
            </a:r>
          </a:p>
          <a:p>
            <a:r>
              <a:rPr lang="en-US" dirty="0" smtClean="0"/>
              <a:t>RQ3: Running time of </a:t>
            </a:r>
            <a:r>
              <a:rPr lang="en-US" dirty="0" err="1" smtClean="0"/>
              <a:t>iFixFlakies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519445"/>
            <a:ext cx="8258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aseline="30000" dirty="0" smtClean="0"/>
              <a:t>1</a:t>
            </a:r>
            <a:r>
              <a:rPr lang="en-US" sz="1600" dirty="0" smtClean="0"/>
              <a:t>Lam et al., “</a:t>
            </a:r>
            <a:r>
              <a:rPr lang="en-US" sz="1600" dirty="0" err="1" smtClean="0"/>
              <a:t>iDFlakies</a:t>
            </a:r>
            <a:r>
              <a:rPr lang="en-US" sz="1600" dirty="0"/>
              <a:t>: A Framework for Detecting and Partially Classifying Flaky </a:t>
            </a:r>
            <a:r>
              <a:rPr lang="en-US" sz="1600" dirty="0" smtClean="0"/>
              <a:t>Tests”. ICST 2019.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9233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RQ1: Breakdowns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19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482463"/>
              </p:ext>
            </p:extLst>
          </p:nvPr>
        </p:nvGraphicFramePr>
        <p:xfrm>
          <a:off x="914400" y="1265873"/>
          <a:ext cx="7315200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426101205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443072318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15682181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1254801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59992976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Project</a:t>
                      </a:r>
                      <a:r>
                        <a:rPr lang="en-US" sz="1600" baseline="0" dirty="0" smtClean="0"/>
                        <a:t> - </a:t>
                      </a:r>
                      <a:r>
                        <a:rPr lang="en-US" sz="1600" dirty="0" smtClean="0"/>
                        <a:t>Module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#</a:t>
                      </a:r>
                      <a:r>
                        <a:rPr lang="en-US" sz="1600" baseline="0" dirty="0" smtClean="0"/>
                        <a:t> OD Tests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# Victims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# Brittles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# Victims w/ Cleaners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0374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alibaba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fastjson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0817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apache/incubator-</a:t>
                      </a:r>
                      <a:r>
                        <a:rPr lang="en-US" sz="1600" dirty="0" err="1" smtClean="0"/>
                        <a:t>dubbo</a:t>
                      </a:r>
                      <a:r>
                        <a:rPr lang="en-US" sz="1600" dirty="0" smtClean="0"/>
                        <a:t> - m1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1146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                                             -</a:t>
                      </a:r>
                      <a:r>
                        <a:rPr lang="en-US" sz="1600" baseline="0" dirty="0" smtClean="0"/>
                        <a:t> m2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5431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                                             - m3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6825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                                             -</a:t>
                      </a:r>
                      <a:r>
                        <a:rPr lang="en-US" sz="1600" baseline="0" dirty="0" smtClean="0"/>
                        <a:t> m4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240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apache/jackrabbit-oak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463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apache/struts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6758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dropwizard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dropwizard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9278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elasticjob</a:t>
                      </a:r>
                      <a:r>
                        <a:rPr lang="en-US" sz="1600" dirty="0" smtClean="0"/>
                        <a:t>/elastic-job-lite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219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jfree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jfreechart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1706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kevinsawicki</a:t>
                      </a:r>
                      <a:r>
                        <a:rPr lang="en-US" sz="1600" dirty="0" smtClean="0"/>
                        <a:t>/http-request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103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undertow-</a:t>
                      </a:r>
                      <a:r>
                        <a:rPr lang="en-US" sz="1600" dirty="0" err="1" smtClean="0"/>
                        <a:t>io</a:t>
                      </a:r>
                      <a:r>
                        <a:rPr lang="en-US" sz="1600" dirty="0" smtClean="0"/>
                        <a:t>/undertow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9955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wildfly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wildfly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7687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Total/Average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110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100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10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48</a:t>
                      </a:r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703118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751916" y="6219429"/>
            <a:ext cx="2194984" cy="273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49408" y="6224325"/>
            <a:ext cx="2380192" cy="273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11" idx="2"/>
            <a:endCxn id="7" idx="0"/>
          </p:cNvCxnSpPr>
          <p:nvPr/>
        </p:nvCxnSpPr>
        <p:spPr>
          <a:xfrm flipH="1">
            <a:off x="7039504" y="5907877"/>
            <a:ext cx="86510" cy="3164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29048" y="5445422"/>
            <a:ext cx="3993932" cy="462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rgbClr val="FF0000"/>
                </a:solidFill>
              </a:rPr>
              <a:t>Over half can be automatically fixed!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16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7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RQ2: Patch Characteristics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285076"/>
              </p:ext>
            </p:extLst>
          </p:nvPr>
        </p:nvGraphicFramePr>
        <p:xfrm>
          <a:off x="2743197" y="1411289"/>
          <a:ext cx="36576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32870842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3840525619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38275261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 Patches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# Unique Patches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37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Average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25.2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3.3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2935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0057"/>
              </p:ext>
            </p:extLst>
          </p:nvPr>
        </p:nvGraphicFramePr>
        <p:xfrm>
          <a:off x="1137920" y="3341051"/>
          <a:ext cx="6949440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32870842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840525619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38275261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11855008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070303235"/>
                    </a:ext>
                  </a:extLst>
                </a:gridCol>
              </a:tblGrid>
              <a:tr h="320040">
                <a:tc row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First Patch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All Patches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37839"/>
                  </a:ext>
                </a:extLst>
              </a:tr>
              <a:tr h="3200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Avg. # </a:t>
                      </a:r>
                      <a:r>
                        <a:rPr lang="en-US" dirty="0" err="1" smtClean="0"/>
                        <a:t>Stmts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Avg.</a:t>
                      </a:r>
                      <a:r>
                        <a:rPr lang="en-US" baseline="0" dirty="0" smtClean="0"/>
                        <a:t> % </a:t>
                      </a:r>
                      <a:r>
                        <a:rPr lang="en-US" baseline="0" dirty="0" err="1" smtClean="0"/>
                        <a:t>Stmts</a:t>
                      </a:r>
                      <a:r>
                        <a:rPr lang="en-US" baseline="0" dirty="0" smtClean="0"/>
                        <a:t> from Original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Avg. # </a:t>
                      </a:r>
                      <a:r>
                        <a:rPr lang="en-US" dirty="0" err="1" smtClean="0"/>
                        <a:t>Stmts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Avg. % </a:t>
                      </a:r>
                      <a:r>
                        <a:rPr lang="en-US" dirty="0" err="1" smtClean="0"/>
                        <a:t>Stmts</a:t>
                      </a:r>
                      <a:r>
                        <a:rPr lang="en-US" dirty="0" smtClean="0"/>
                        <a:t> from Original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76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Average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22.6%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24.6%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29359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129033" y="1402777"/>
            <a:ext cx="1271764" cy="1010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02870" y="2639757"/>
            <a:ext cx="6738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Many cleaners/state-setters result in the same patch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2900" y="3341051"/>
            <a:ext cx="2913949" cy="1376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94085" y="4884661"/>
            <a:ext cx="855586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Final patches are small parts of the original cleaner/state-setter test</a:t>
            </a:r>
          </a:p>
          <a:p>
            <a:pPr algn="ctr"/>
            <a:r>
              <a:rPr lang="en-US" sz="2400" dirty="0" smtClean="0"/>
              <a:t>(69.5% of patches consist of only one statement!)</a:t>
            </a:r>
          </a:p>
          <a:p>
            <a:pPr algn="ctr"/>
            <a:r>
              <a:rPr lang="en-US" sz="2400" dirty="0"/>
              <a:t>First patch obtained is similar in size to all others</a:t>
            </a:r>
          </a:p>
          <a:p>
            <a:pPr algn="ctr"/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52756" y="6064679"/>
            <a:ext cx="8038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</a:rPr>
              <a:t>Recommendation: Only generate a handful of patches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50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9" grpId="0" animBg="1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RQ2: Patches as Pull Requests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Submitted pull requests for 56 of 58 OD tests</a:t>
            </a:r>
          </a:p>
          <a:p>
            <a:pPr lvl="1"/>
            <a:r>
              <a:rPr lang="en-US" dirty="0" smtClean="0"/>
              <a:t>2 of 58 already fixed before our work</a:t>
            </a:r>
          </a:p>
          <a:p>
            <a:r>
              <a:rPr lang="en-US" dirty="0" smtClean="0"/>
              <a:t>Pull requests for 21 of 56 tests accepted so far</a:t>
            </a:r>
          </a:p>
          <a:p>
            <a:pPr lvl="1"/>
            <a:r>
              <a:rPr lang="en-US" dirty="0" smtClean="0"/>
              <a:t>Remaining pending, nothing rejected</a:t>
            </a:r>
          </a:p>
          <a:p>
            <a:r>
              <a:rPr lang="en-US" dirty="0" smtClean="0"/>
              <a:t>A patch for a brittle in </a:t>
            </a:r>
            <a:r>
              <a:rPr lang="en-US" dirty="0" err="1" smtClean="0"/>
              <a:t>WildFly</a:t>
            </a:r>
            <a:r>
              <a:rPr lang="en-US" dirty="0" smtClean="0"/>
              <a:t> also fixed 43 victims that have no cleaners!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0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RQ3: Runtime of </a:t>
            </a:r>
            <a:r>
              <a:rPr lang="en-US" dirty="0" err="1" smtClean="0"/>
              <a:t>iFixFlakies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598897"/>
              </p:ext>
            </p:extLst>
          </p:nvPr>
        </p:nvGraphicFramePr>
        <p:xfrm>
          <a:off x="320040" y="1129239"/>
          <a:ext cx="8503920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426101205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443072318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15682181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1254801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59992976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1255922785"/>
                    </a:ext>
                  </a:extLst>
                </a:gridCol>
              </a:tblGrid>
              <a:tr h="411480">
                <a:tc rowSpan="2">
                  <a:txBody>
                    <a:bodyPr/>
                    <a:lstStyle/>
                    <a:p>
                      <a:r>
                        <a:rPr lang="en-US" sz="1600" dirty="0" smtClean="0"/>
                        <a:t>Project</a:t>
                      </a:r>
                      <a:r>
                        <a:rPr lang="en-US" sz="1600" baseline="0" dirty="0" smtClean="0"/>
                        <a:t> - </a:t>
                      </a:r>
                      <a:r>
                        <a:rPr lang="en-US" sz="1600" dirty="0" smtClean="0"/>
                        <a:t>Module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Test suite time</a:t>
                      </a:r>
                    </a:p>
                    <a:p>
                      <a:pPr algn="ctr"/>
                      <a:r>
                        <a:rPr lang="en-US" sz="1600" dirty="0" smtClean="0"/>
                        <a:t>(s)</a:t>
                      </a:r>
                      <a:endParaRPr lang="en-US" sz="16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Avg. time to find first (s)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037436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polluter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cleaner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state-setter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patch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8802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alibaba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fastjson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92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*523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299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0817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apache/incubator-</a:t>
                      </a:r>
                      <a:r>
                        <a:rPr lang="en-US" sz="1600" dirty="0" err="1" smtClean="0"/>
                        <a:t>dubbo</a:t>
                      </a:r>
                      <a:r>
                        <a:rPr lang="en-US" sz="1600" dirty="0" smtClean="0"/>
                        <a:t> - m1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294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1146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                                             -</a:t>
                      </a:r>
                      <a:r>
                        <a:rPr lang="en-US" sz="1600" baseline="0" dirty="0" smtClean="0"/>
                        <a:t> m2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143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178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130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5431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                                             - m3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395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6825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                                             -</a:t>
                      </a:r>
                      <a:r>
                        <a:rPr lang="en-US" sz="1600" baseline="0" dirty="0" smtClean="0"/>
                        <a:t> m4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*104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240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apache/jackrabbit-oak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189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218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*5,710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416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463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apache/struts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411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6758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dropwizard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dropwizard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714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9278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elasticjob</a:t>
                      </a:r>
                      <a:r>
                        <a:rPr lang="en-US" sz="1600" dirty="0" smtClean="0"/>
                        <a:t>/elastic-job-lite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*293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258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219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jfree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jfreechart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*1,695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1706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kevinsawicki</a:t>
                      </a:r>
                      <a:r>
                        <a:rPr lang="en-US" sz="1600" dirty="0" smtClean="0"/>
                        <a:t>/http-request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103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undertow-</a:t>
                      </a:r>
                      <a:r>
                        <a:rPr lang="en-US" sz="1600" dirty="0" err="1" smtClean="0"/>
                        <a:t>io</a:t>
                      </a:r>
                      <a:r>
                        <a:rPr lang="en-US" sz="1600" dirty="0" smtClean="0"/>
                        <a:t>/undertow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232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9955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wildfly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wildfly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*114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463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7687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Total/Average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35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29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176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37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186</a:t>
                      </a:r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70311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181600" y="11561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 = spent time determining no cleaners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259916" y="1958975"/>
            <a:ext cx="1198034" cy="334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259916" y="3289300"/>
            <a:ext cx="1198034" cy="334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9916" y="3623885"/>
            <a:ext cx="1198034" cy="334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259916" y="4633124"/>
            <a:ext cx="1198034" cy="334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259916" y="4967709"/>
            <a:ext cx="1198034" cy="334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50391" y="5974184"/>
            <a:ext cx="1198034" cy="334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061882" y="6308769"/>
            <a:ext cx="3570952" cy="3373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630689" y="6308769"/>
            <a:ext cx="1190654" cy="3373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RQ3: Runtime of </a:t>
            </a:r>
            <a:r>
              <a:rPr lang="en-US" dirty="0" err="1" smtClean="0"/>
              <a:t>iFixFlakies</a:t>
            </a:r>
            <a:r>
              <a:rPr lang="en-US" dirty="0" smtClean="0"/>
              <a:t> (cont’d)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211919"/>
              </p:ext>
            </p:extLst>
          </p:nvPr>
        </p:nvGraphicFramePr>
        <p:xfrm>
          <a:off x="137160" y="1118728"/>
          <a:ext cx="8869680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426101205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44307231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15682181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1254801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59992976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255922785"/>
                    </a:ext>
                  </a:extLst>
                </a:gridCol>
              </a:tblGrid>
              <a:tr h="411480">
                <a:tc rowSpan="2">
                  <a:txBody>
                    <a:bodyPr/>
                    <a:lstStyle/>
                    <a:p>
                      <a:r>
                        <a:rPr lang="en-US" sz="1600" dirty="0" smtClean="0"/>
                        <a:t>Project</a:t>
                      </a:r>
                      <a:r>
                        <a:rPr lang="en-US" sz="1600" baseline="0" dirty="0" smtClean="0"/>
                        <a:t> - </a:t>
                      </a:r>
                      <a:r>
                        <a:rPr lang="en-US" sz="1600" dirty="0" smtClean="0"/>
                        <a:t>Module</a:t>
                      </a:r>
                      <a:endParaRPr 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Test suite time</a:t>
                      </a:r>
                    </a:p>
                    <a:p>
                      <a:pPr algn="ctr"/>
                      <a:r>
                        <a:rPr lang="en-US" sz="1600" dirty="0" smtClean="0"/>
                        <a:t>(s)</a:t>
                      </a:r>
                      <a:endParaRPr lang="en-US" sz="16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Avg. time to find all (s)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037436"/>
                  </a:ext>
                </a:extLst>
              </a:tr>
              <a:tr h="4114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polluters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cleaners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state-setters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patches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8802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alibaba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fastjson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113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*1,443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1,748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25,424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0817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apache/incubator-</a:t>
                      </a:r>
                      <a:r>
                        <a:rPr lang="en-US" sz="1600" dirty="0" err="1" smtClean="0"/>
                        <a:t>dubbo</a:t>
                      </a:r>
                      <a:r>
                        <a:rPr lang="en-US" sz="1600" dirty="0" smtClean="0"/>
                        <a:t> - m1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465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2,473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1146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                                             -</a:t>
                      </a:r>
                      <a:r>
                        <a:rPr lang="en-US" sz="1600" baseline="0" dirty="0" smtClean="0"/>
                        <a:t> m2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206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389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7,089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54,856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5431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                                             - m3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572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6825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                                              -</a:t>
                      </a:r>
                      <a:r>
                        <a:rPr lang="en-US" sz="1600" baseline="0" dirty="0" smtClean="0"/>
                        <a:t> m4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*104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1240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apache/jackrabbit-oak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189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218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*5,710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416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463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apache/struts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159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14,478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6758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dropwizard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dropwizard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589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4,960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9278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elasticjob</a:t>
                      </a:r>
                      <a:r>
                        <a:rPr lang="en-US" sz="1600" dirty="0" smtClean="0"/>
                        <a:t>/elastic-job-lite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*1,434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11,854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219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jfree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jfreechart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*1,695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61706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kevinsawicki</a:t>
                      </a:r>
                      <a:r>
                        <a:rPr lang="en-US" sz="1600" dirty="0" smtClean="0"/>
                        <a:t>/http-request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227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56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103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undertow-</a:t>
                      </a:r>
                      <a:r>
                        <a:rPr lang="en-US" sz="1600" dirty="0" err="1" smtClean="0"/>
                        <a:t>io</a:t>
                      </a:r>
                      <a:r>
                        <a:rPr lang="en-US" sz="1600" dirty="0" smtClean="0"/>
                        <a:t>/undertow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109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1,025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n/a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2,617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9955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wildfly</a:t>
                      </a:r>
                      <a:r>
                        <a:rPr lang="en-US" sz="1600" dirty="0" smtClean="0"/>
                        <a:t>/</a:t>
                      </a:r>
                      <a:r>
                        <a:rPr lang="en-US" sz="1600" dirty="0" err="1" smtClean="0"/>
                        <a:t>wildfly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*114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186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smtClean="0"/>
                        <a:t>4,749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7687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Total/Average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35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39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592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1,154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smtClean="0"/>
                        <a:t>9,737</a:t>
                      </a:r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70311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181600" y="11561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 = spent time determining no cleaners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96156" y="6316134"/>
            <a:ext cx="5110683" cy="3194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02732" y="5642560"/>
            <a:ext cx="7894427" cy="4624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Recommendation: Do not spend time searching for all patches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82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Order-dependent (OD) tests can often be automatically fixed</a:t>
            </a:r>
          </a:p>
          <a:p>
            <a:pPr lvl="1"/>
            <a:r>
              <a:rPr lang="en-US" dirty="0" smtClean="0"/>
              <a:t>Test suites often have logic that can fix them!</a:t>
            </a:r>
          </a:p>
          <a:p>
            <a:r>
              <a:rPr lang="en-US" dirty="0" err="1" smtClean="0"/>
              <a:t>iFixFlakies</a:t>
            </a:r>
            <a:r>
              <a:rPr lang="en-US" dirty="0" smtClean="0"/>
              <a:t> can automatically find and minimize the fixes for these tests</a:t>
            </a:r>
          </a:p>
          <a:p>
            <a:r>
              <a:rPr lang="en-US" dirty="0" smtClean="0"/>
              <a:t>Automatically fixed 58 out of 110 OD tests</a:t>
            </a:r>
          </a:p>
          <a:p>
            <a:pPr lvl="1"/>
            <a:r>
              <a:rPr lang="en-US" dirty="0" smtClean="0"/>
              <a:t>Pull requests for 21 of 56 OD tests accepted, remaining are pending, nothing rejected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810101" y="5936647"/>
            <a:ext cx="31835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awshi2@illinois.edu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0" y="5998202"/>
            <a:ext cx="5213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linkClick r:id="rId2"/>
              </a:rPr>
              <a:t>https://sites.google.com/view/ifixflakies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75946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/>
          <a:lstStyle/>
          <a:p>
            <a:r>
              <a:rPr lang="en-US" dirty="0" smtClean="0"/>
              <a:t>I will be on the job market!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August Shi</a:t>
            </a:r>
          </a:p>
          <a:p>
            <a:r>
              <a:rPr lang="en-US" sz="3600" dirty="0">
                <a:hlinkClick r:id="rId2"/>
              </a:rPr>
              <a:t>http://mir.cs.illinois.edu/awshi2/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1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BACKUP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264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21" y="2049517"/>
            <a:ext cx="8549558" cy="330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6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62" y="2112580"/>
            <a:ext cx="8706356" cy="329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2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RQ2 cont.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883" y="1815894"/>
            <a:ext cx="5765909" cy="454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1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RQ3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7080C1-6851-473A-A83F-21BA85D9BFD3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38" y="1902373"/>
            <a:ext cx="8278446" cy="330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64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48225</TotalTime>
  <Words>1750</Words>
  <Application>Microsoft Office PowerPoint</Application>
  <PresentationFormat>On-screen Show (4:3)</PresentationFormat>
  <Paragraphs>638</Paragraphs>
  <Slides>30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Office Theme</vt:lpstr>
      <vt:lpstr>iFixFlakies: A Framework for Automatically Fixing Order-Dependent Flaky Tests</vt:lpstr>
      <vt:lpstr>Order-Dependent (OD) Flaky Tests</vt:lpstr>
      <vt:lpstr>Example 1 (from WildFly)</vt:lpstr>
      <vt:lpstr>Example 2 (from ElasticJob)</vt:lpstr>
      <vt:lpstr>A Fix is also in the Test Suite!</vt:lpstr>
      <vt:lpstr>iFixFlakies</vt:lpstr>
      <vt:lpstr>iFixFlakies Overview</vt:lpstr>
      <vt:lpstr>iFixFlakies Overview</vt:lpstr>
      <vt:lpstr>Minimizer Overview</vt:lpstr>
      <vt:lpstr>Minimizer Overview</vt:lpstr>
      <vt:lpstr>Minimizer (Determine OD Test Kind)</vt:lpstr>
      <vt:lpstr>Minimizer (Find Polluter)</vt:lpstr>
      <vt:lpstr>Minimizer (Find Cleaner)</vt:lpstr>
      <vt:lpstr>Minimizer (Find Cleaner)</vt:lpstr>
      <vt:lpstr>Patcher Overview</vt:lpstr>
      <vt:lpstr>Patcher Example</vt:lpstr>
      <vt:lpstr>Patcher Example</vt:lpstr>
      <vt:lpstr>Experimental Setup</vt:lpstr>
      <vt:lpstr>RQ1: Breakdowns</vt:lpstr>
      <vt:lpstr>RQ2: Patch Characteristics</vt:lpstr>
      <vt:lpstr>RQ2: Patches as Pull Requests</vt:lpstr>
      <vt:lpstr>RQ3: Runtime of iFixFlakies</vt:lpstr>
      <vt:lpstr>RQ3: Runtime of iFixFlakies (cont’d)</vt:lpstr>
      <vt:lpstr>Conclusions</vt:lpstr>
      <vt:lpstr>I will be on the job market!</vt:lpstr>
      <vt:lpstr>BACKUP</vt:lpstr>
      <vt:lpstr>RQ1</vt:lpstr>
      <vt:lpstr>RQ2</vt:lpstr>
      <vt:lpstr>RQ2 cont.</vt:lpstr>
      <vt:lpstr>RQ3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August Shi</dc:creator>
  <cp:lastModifiedBy>August Shi</cp:lastModifiedBy>
  <cp:revision>257</cp:revision>
  <dcterms:created xsi:type="dcterms:W3CDTF">2019-07-26T23:42:20Z</dcterms:created>
  <dcterms:modified xsi:type="dcterms:W3CDTF">2019-09-05T20:34:58Z</dcterms:modified>
</cp:coreProperties>
</file>